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1.xml" ContentType="application/vnd.openxmlformats-officedocument.presentationml.notesSlide+xml"/>
  <Override PartName="/ppt/tags/tag93.xml" ContentType="application/vnd.openxmlformats-officedocument.presentationml.tags+xml"/>
  <Override PartName="/ppt/notesSlides/notesSlide12.xml" ContentType="application/vnd.openxmlformats-officedocument.presentationml.notesSlide+xml"/>
  <Override PartName="/ppt/tags/tag94.xml" ContentType="application/vnd.openxmlformats-officedocument.presentationml.tags+xml"/>
  <Override PartName="/ppt/notesSlides/notesSlide13.xml" ContentType="application/vnd.openxmlformats-officedocument.presentationml.notesSlide+xml"/>
  <Override PartName="/ppt/tags/tag95.xml" ContentType="application/vnd.openxmlformats-officedocument.presentationml.tags+xml"/>
  <Override PartName="/ppt/notesSlides/notesSlide14.xml" ContentType="application/vnd.openxmlformats-officedocument.presentationml.notesSlide+xml"/>
  <Override PartName="/ppt/tags/tag96.xml" ContentType="application/vnd.openxmlformats-officedocument.presentationml.tags+xml"/>
  <Override PartName="/ppt/notesSlides/notesSlide15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16.xml" ContentType="application/vnd.openxmlformats-officedocument.presentationml.notesSlide+xml"/>
  <Override PartName="/ppt/tags/tag101.xml" ContentType="application/vnd.openxmlformats-officedocument.presentationml.tags+xml"/>
  <Override PartName="/ppt/notesSlides/notesSlide17.xml" ContentType="application/vnd.openxmlformats-officedocument.presentationml.notesSlide+xml"/>
  <Override PartName="/ppt/tags/tag102.xml" ContentType="application/vnd.openxmlformats-officedocument.presentationml.tags+xml"/>
  <Override PartName="/ppt/notesSlides/notesSlide18.xml" ContentType="application/vnd.openxmlformats-officedocument.presentationml.notesSlide+xml"/>
  <Override PartName="/ppt/tags/tag103.xml" ContentType="application/vnd.openxmlformats-officedocument.presentationml.tags+xml"/>
  <Override PartName="/ppt/notesSlides/notesSlide19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20.xml" ContentType="application/vnd.openxmlformats-officedocument.presentationml.notesSlide+xml"/>
  <Override PartName="/ppt/tags/tag108.xml" ContentType="application/vnd.openxmlformats-officedocument.presentationml.tags+xml"/>
  <Override PartName="/ppt/notesSlides/notesSlide21.xml" ContentType="application/vnd.openxmlformats-officedocument.presentationml.notesSlide+xml"/>
  <Override PartName="/ppt/tags/tag109.xml" ContentType="application/vnd.openxmlformats-officedocument.presentationml.tags+xml"/>
  <Override PartName="/ppt/notesSlides/notesSlide22.xml" ContentType="application/vnd.openxmlformats-officedocument.presentationml.notesSlide+xml"/>
  <Override PartName="/ppt/tags/tag110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11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8"/>
  </p:notesMasterIdLst>
  <p:handoutMasterIdLst>
    <p:handoutMasterId r:id="rId29"/>
  </p:handoutMasterIdLst>
  <p:sldIdLst>
    <p:sldId id="258" r:id="rId2"/>
    <p:sldId id="261" r:id="rId3"/>
    <p:sldId id="260" r:id="rId4"/>
    <p:sldId id="265" r:id="rId5"/>
    <p:sldId id="290" r:id="rId6"/>
    <p:sldId id="266" r:id="rId7"/>
    <p:sldId id="267" r:id="rId8"/>
    <p:sldId id="268" r:id="rId9"/>
    <p:sldId id="269" r:id="rId10"/>
    <p:sldId id="270" r:id="rId11"/>
    <p:sldId id="271" r:id="rId12"/>
    <p:sldId id="289" r:id="rId13"/>
    <p:sldId id="272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59" r:id="rId26"/>
    <p:sldId id="29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319"/>
    <a:srgbClr val="BE6E00"/>
    <a:srgbClr val="BE5D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06"/>
    <p:restoredTop sz="93440"/>
  </p:normalViewPr>
  <p:slideViewPr>
    <p:cSldViewPr snapToGrid="0">
      <p:cViewPr varScale="1">
        <p:scale>
          <a:sx n="178" d="100"/>
          <a:sy n="178" d="100"/>
        </p:scale>
        <p:origin x="168" y="8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75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EC11A9-3280-7221-0E75-097F69702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8AE97-658D-D4D0-2F1D-084186E2B6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030F0-8E76-F341-B0B6-965AFF09A2B6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C62E4-A096-5298-2D4B-E3740B1E99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E779F-E35F-B5EF-08B8-4F3694A9D5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6679-DFAF-644A-8942-3E5CC215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228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4AD29-370C-B048-8F53-A7CB29A2D3ED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94E6A-4369-2347-97D0-48E84F4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264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4614-FAC3-705C-23D5-9323BAD3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29028-0A50-E051-188E-37AAF4D0C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AA7FF-BD99-7925-1D58-40657F5A7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AA7FD-CEC5-5D80-A58B-042C56303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12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87AB-F7F8-7E04-6D08-07A9EE1B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64A30-592E-2CEC-686D-684C9933D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50A61-1538-A8F4-5F5F-3ABB8F357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F0C7D-6F1C-604C-6132-EFB0485D4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37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025C-41D2-70B1-E117-A5EB4114F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37D23-8923-015B-FE6A-23C7750A0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54C2A-707C-D51D-1CA7-B0A27D9C5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B0A8B-11AF-2955-5A43-97F18AD44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80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27C1-292D-D6B1-A9BF-2665BD2B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D788F-1E84-7505-4234-AD28E3127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6639C-3AEC-28AA-D2E5-D3C6AD185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35855-47BD-1CFF-E55C-054A1F5B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70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9E263-7DE7-D55D-66CE-2032A465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86ACC-D4BB-FECF-0A83-7F47BFD29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59131-B21F-A8FF-1679-77239C036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1AFC7-E7A2-D78C-63B1-5A9CD261E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38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675FC-AFF3-3D9A-BA5D-C7AAB05E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9BBC7-A968-B619-C2AA-C01B08341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49B97-FE4B-C8B9-879B-4033A974F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4AB89-0FD0-C3CC-D635-6C771146D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21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890F5-5E62-4387-466A-DA6CCE38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C22A4-8266-C0F1-65F2-4C07A23E4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04F6A-12DA-D8EE-14B0-44A38F79E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C4CBD-3FA9-8692-925E-BC2FF49FD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94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80001-AE52-69F7-29B0-71E1E546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D3039-0D4E-0A49-356D-5016F3F85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DAA9E-1AC9-E9E4-54F2-E3C17058E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68A0-CD8A-1939-627B-FF08AA163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32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B901F-9651-8CC3-CAA9-50259937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5FCB6-0F81-0D4B-A5F9-355A32B70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159FB-4642-AFB0-662D-E9611B3E6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3B6F9-E167-1538-C2E7-B83E97EEA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31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F763-2134-13D0-7649-5B320B6DB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F6ECF-5622-DB85-9F36-898CAB90E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9C68B-D4F2-08C4-02AD-0D498E655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F040B-E1F0-5829-CBD3-2899C5396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00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BD2F-3EAD-1DC5-FC0F-56B80FB2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809E4-8F46-238F-A1D5-19E865142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97429-F8BB-DC95-313A-9C3BE67FA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62E04-79A0-B22D-D492-AD7B544D1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4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E7C7-06AE-F27C-5962-DAF5C3A3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3B9BC-2765-A825-380D-7C77AACA6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3D943-1C4B-B837-7C0B-1635379C3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E0C6E-D057-3D78-DF2E-B3C4B20E1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8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3A3FC-25FE-B478-118A-48442D98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E7451-A060-AD7B-4171-E407EAB41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2B05D-D3AE-80CB-D0AA-53E008AFF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39C39-C762-938D-EED8-23BB7FC25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93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2DCEC-24F8-AA70-1AFB-5FC7B4F67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4A322-C062-A577-E62B-7A4E21B82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BFD61-86D5-B241-3CC1-868713729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C4978-E4DE-DD97-187B-C72A50DC2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32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2E58-1270-4E88-D5AD-A061F65B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5811E-2261-4161-2B90-D245839CC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9BDAC-391C-055B-AC98-059392838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8DAA1-4941-961C-7DC1-1B88B344A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273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1A418-650D-5AD1-1D21-82A427BD8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EC612-9EE1-5567-B75E-C7B9612C9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1341F-9194-BE12-9566-5F7A2075D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8A599-CD3E-0F96-874A-A94C80D0F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49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F26B-E18F-9E51-4F70-9BC29352F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B97EA-A62A-8C17-28A9-D33DB3EA0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6F412-C3E2-EE25-2ECD-06A5E2250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5C183-3ECE-20A6-40AE-CB59ED069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697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617D-E5CF-1604-4B8A-D1AB297D7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8CA49-D27F-F5DB-4268-4A6974922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3CBB4-2FCE-E074-EE0C-B3556B913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9B5F8-D554-F04F-9A54-8F6369AF7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26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2BF8-0549-FD4E-9B5A-0821C479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B6033-8A9A-89C2-1DFA-A908AFA82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8EBC2-6712-4B0A-6B5C-18E14E764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BC8D2-100B-53F4-ED44-4A26CB22A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592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1924-8A7D-BC7E-DE6A-B1431B1A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5B7B6-8561-52A9-BE84-6B4BA2396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18F27-8135-C861-B8D8-67186B3AE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912D-DFE8-A9A3-E6A6-47B2B5F0D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603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12966-5B25-4AE1-2A10-F5DD7473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08D7F-34A0-0CBD-1F92-F01B03CB6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29BAE-6458-B939-E668-B3E30B1B2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DB39B-9444-CE4E-7F2B-6F05F5C6C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203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4DBC1-01D6-28E4-9344-854861B8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691A5-7FE7-5DA9-0A8E-475FB566F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A34F5-B54C-7A14-DB47-C59756CCE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0646F-3DFB-5852-4D66-86FE3538A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367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597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2D511-5935-AE17-6640-734090CA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24547-5C62-7456-182A-02426083D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C5A0F-EBC9-B190-B795-418DA48F8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7AC6F-1C61-52C9-E03B-916EE002D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4E6A-4369-2347-97D0-48E84F45B5A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4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"/>
              </a:defRPr>
            </a:lvl1pPr>
            <a:lvl2pPr>
              <a:defRPr>
                <a:latin typeface=""/>
              </a:defRPr>
            </a:lvl2pPr>
            <a:lvl3pPr>
              <a:defRPr>
                <a:latin typeface=""/>
              </a:defRPr>
            </a:lvl3pPr>
            <a:lvl4pPr>
              <a:defRPr>
                <a:latin typeface=""/>
              </a:defRPr>
            </a:lvl4pPr>
            <a:lvl5pPr>
              <a:defRPr>
                <a:latin typeface="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460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77E7D-F2BB-8204-E5C1-30B12A4243E3}"/>
              </a:ext>
            </a:extLst>
          </p:cNvPr>
          <p:cNvSpPr/>
          <p:nvPr userDrawn="1"/>
        </p:nvSpPr>
        <p:spPr>
          <a:xfrm>
            <a:off x="0" y="6583680"/>
            <a:ext cx="4114800" cy="2743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cs typeface="Nadeem" pitchFamily="2" charset="-78"/>
              </a:rPr>
              <a:t>Hai Nguyen (UT at Austin)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31D37-1E04-B5D8-01EC-85E8B818F456}"/>
              </a:ext>
            </a:extLst>
          </p:cNvPr>
          <p:cNvSpPr/>
          <p:nvPr userDrawn="1"/>
        </p:nvSpPr>
        <p:spPr>
          <a:xfrm>
            <a:off x="8122016" y="6583680"/>
            <a:ext cx="4069984" cy="274320"/>
          </a:xfrm>
          <a:prstGeom prst="rect">
            <a:avLst/>
          </a:prstGeom>
          <a:solidFill>
            <a:srgbClr val="BE6E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cs typeface="Nadeem" pitchFamily="2" charset="-78"/>
              </a:rPr>
              <a:t>Tikhonov Autoencoder Network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51C8D4-55F4-D733-ECDF-0750688D09A2}"/>
              </a:ext>
            </a:extLst>
          </p:cNvPr>
          <p:cNvSpPr/>
          <p:nvPr userDrawn="1"/>
        </p:nvSpPr>
        <p:spPr>
          <a:xfrm>
            <a:off x="4062080" y="6583680"/>
            <a:ext cx="4059936" cy="274320"/>
          </a:xfrm>
          <a:prstGeom prst="rect">
            <a:avLst/>
          </a:prstGeom>
          <a:solidFill>
            <a:srgbClr val="C5531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cs typeface="Nadeem" pitchFamily="2" charset="-78"/>
              </a:rPr>
              <a:t>SIAM CSE 2025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F36DB-C303-9BA6-075B-5B6E1F8326FF}"/>
              </a:ext>
            </a:extLst>
          </p:cNvPr>
          <p:cNvSpPr txBox="1"/>
          <p:nvPr userDrawn="1"/>
        </p:nvSpPr>
        <p:spPr>
          <a:xfrm>
            <a:off x="11729988" y="6550223"/>
            <a:ext cx="462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E636286-269D-E04E-8FA8-0407F5B0E60D}" type="slidenum">
              <a:rPr lang="en-US" sz="1400" b="1" smtClean="0">
                <a:solidFill>
                  <a:schemeClr val="bg1"/>
                </a:solidFill>
                <a:latin typeface=""/>
              </a:rPr>
              <a:pPr algn="r"/>
              <a:t>‹#›</a:t>
            </a:fld>
            <a:endParaRPr lang="en-US" sz="1400" b="1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197018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"/>
          <a:ea typeface="+mj-ea"/>
          <a:cs typeface="Nadeem" pitchFamily="2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"/>
          <a:ea typeface="+mn-ea"/>
          <a:cs typeface="Nadeem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"/>
          <a:ea typeface="+mn-ea"/>
          <a:cs typeface="Nadeem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"/>
          <a:ea typeface="+mn-ea"/>
          <a:cs typeface="Nadeem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"/>
          <a:ea typeface="+mn-ea"/>
          <a:cs typeface="Nadeem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"/>
          <a:ea typeface="+mn-ea"/>
          <a:cs typeface="Nadeem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10" Type="http://schemas.openxmlformats.org/officeDocument/2006/relationships/image" Target="../media/image4.jpeg"/><Relationship Id="rId4" Type="http://schemas.openxmlformats.org/officeDocument/2006/relationships/tags" Target="../tags/tag5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5.emf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9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8.emf"/><Relationship Id="rId5" Type="http://schemas.openxmlformats.org/officeDocument/2006/relationships/tags" Target="../tags/tag16.xml"/><Relationship Id="rId10" Type="http://schemas.openxmlformats.org/officeDocument/2006/relationships/image" Target="../media/image7.emf"/><Relationship Id="rId4" Type="http://schemas.openxmlformats.org/officeDocument/2006/relationships/tags" Target="../tags/tag15.xml"/><Relationship Id="rId9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11.emf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tags" Target="../tags/tag23.xml"/><Relationship Id="rId7" Type="http://schemas.openxmlformats.org/officeDocument/2006/relationships/image" Target="../media/image12.emf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15.emf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4.emf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Relationship Id="rId4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56.xml"/><Relationship Id="rId21" Type="http://schemas.openxmlformats.org/officeDocument/2006/relationships/tags" Target="../tags/tag51.xml"/><Relationship Id="rId42" Type="http://schemas.openxmlformats.org/officeDocument/2006/relationships/tags" Target="../tags/tag72.xml"/><Relationship Id="rId47" Type="http://schemas.openxmlformats.org/officeDocument/2006/relationships/tags" Target="../tags/tag77.xml"/><Relationship Id="rId63" Type="http://schemas.openxmlformats.org/officeDocument/2006/relationships/slideLayout" Target="../slideLayouts/slideLayout1.xml"/><Relationship Id="rId68" Type="http://schemas.openxmlformats.org/officeDocument/2006/relationships/image" Target="../media/image22.emf"/><Relationship Id="rId16" Type="http://schemas.openxmlformats.org/officeDocument/2006/relationships/tags" Target="../tags/tag46.xml"/><Relationship Id="rId11" Type="http://schemas.openxmlformats.org/officeDocument/2006/relationships/tags" Target="../tags/tag41.xml"/><Relationship Id="rId24" Type="http://schemas.openxmlformats.org/officeDocument/2006/relationships/tags" Target="../tags/tag54.xml"/><Relationship Id="rId32" Type="http://schemas.openxmlformats.org/officeDocument/2006/relationships/tags" Target="../tags/tag62.xml"/><Relationship Id="rId37" Type="http://schemas.openxmlformats.org/officeDocument/2006/relationships/tags" Target="../tags/tag67.xml"/><Relationship Id="rId40" Type="http://schemas.openxmlformats.org/officeDocument/2006/relationships/tags" Target="../tags/tag70.xml"/><Relationship Id="rId45" Type="http://schemas.openxmlformats.org/officeDocument/2006/relationships/tags" Target="../tags/tag75.xml"/><Relationship Id="rId53" Type="http://schemas.openxmlformats.org/officeDocument/2006/relationships/tags" Target="../tags/tag83.xml"/><Relationship Id="rId58" Type="http://schemas.openxmlformats.org/officeDocument/2006/relationships/tags" Target="../tags/tag88.xml"/><Relationship Id="rId66" Type="http://schemas.openxmlformats.org/officeDocument/2006/relationships/image" Target="../media/image20.emf"/><Relationship Id="rId74" Type="http://schemas.openxmlformats.org/officeDocument/2006/relationships/image" Target="../media/image28.emf"/><Relationship Id="rId79" Type="http://schemas.openxmlformats.org/officeDocument/2006/relationships/image" Target="../media/image33.emf"/><Relationship Id="rId5" Type="http://schemas.openxmlformats.org/officeDocument/2006/relationships/tags" Target="../tags/tag35.xml"/><Relationship Id="rId61" Type="http://schemas.openxmlformats.org/officeDocument/2006/relationships/tags" Target="../tags/tag91.xml"/><Relationship Id="rId19" Type="http://schemas.openxmlformats.org/officeDocument/2006/relationships/tags" Target="../tags/tag4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tags" Target="../tags/tag57.xml"/><Relationship Id="rId30" Type="http://schemas.openxmlformats.org/officeDocument/2006/relationships/tags" Target="../tags/tag60.xml"/><Relationship Id="rId35" Type="http://schemas.openxmlformats.org/officeDocument/2006/relationships/tags" Target="../tags/tag65.xml"/><Relationship Id="rId43" Type="http://schemas.openxmlformats.org/officeDocument/2006/relationships/tags" Target="../tags/tag73.xml"/><Relationship Id="rId48" Type="http://schemas.openxmlformats.org/officeDocument/2006/relationships/tags" Target="../tags/tag78.xml"/><Relationship Id="rId56" Type="http://schemas.openxmlformats.org/officeDocument/2006/relationships/tags" Target="../tags/tag86.xml"/><Relationship Id="rId64" Type="http://schemas.openxmlformats.org/officeDocument/2006/relationships/notesSlide" Target="../notesSlides/notesSlide11.xml"/><Relationship Id="rId69" Type="http://schemas.openxmlformats.org/officeDocument/2006/relationships/image" Target="../media/image23.emf"/><Relationship Id="rId77" Type="http://schemas.openxmlformats.org/officeDocument/2006/relationships/image" Target="../media/image31.emf"/><Relationship Id="rId8" Type="http://schemas.openxmlformats.org/officeDocument/2006/relationships/tags" Target="../tags/tag38.xml"/><Relationship Id="rId51" Type="http://schemas.openxmlformats.org/officeDocument/2006/relationships/tags" Target="../tags/tag81.xml"/><Relationship Id="rId72" Type="http://schemas.openxmlformats.org/officeDocument/2006/relationships/image" Target="../media/image26.emf"/><Relationship Id="rId3" Type="http://schemas.openxmlformats.org/officeDocument/2006/relationships/tags" Target="../tags/tag33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tags" Target="../tags/tag55.xml"/><Relationship Id="rId33" Type="http://schemas.openxmlformats.org/officeDocument/2006/relationships/tags" Target="../tags/tag63.xml"/><Relationship Id="rId38" Type="http://schemas.openxmlformats.org/officeDocument/2006/relationships/tags" Target="../tags/tag68.xml"/><Relationship Id="rId46" Type="http://schemas.openxmlformats.org/officeDocument/2006/relationships/tags" Target="../tags/tag76.xml"/><Relationship Id="rId59" Type="http://schemas.openxmlformats.org/officeDocument/2006/relationships/tags" Target="../tags/tag89.xml"/><Relationship Id="rId67" Type="http://schemas.openxmlformats.org/officeDocument/2006/relationships/image" Target="../media/image21.emf"/><Relationship Id="rId20" Type="http://schemas.openxmlformats.org/officeDocument/2006/relationships/tags" Target="../tags/tag50.xml"/><Relationship Id="rId41" Type="http://schemas.openxmlformats.org/officeDocument/2006/relationships/tags" Target="../tags/tag71.xml"/><Relationship Id="rId54" Type="http://schemas.openxmlformats.org/officeDocument/2006/relationships/tags" Target="../tags/tag84.xml"/><Relationship Id="rId62" Type="http://schemas.openxmlformats.org/officeDocument/2006/relationships/tags" Target="../tags/tag92.xml"/><Relationship Id="rId70" Type="http://schemas.openxmlformats.org/officeDocument/2006/relationships/image" Target="../media/image24.emf"/><Relationship Id="rId75" Type="http://schemas.openxmlformats.org/officeDocument/2006/relationships/image" Target="../media/image29.emf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5" Type="http://schemas.openxmlformats.org/officeDocument/2006/relationships/tags" Target="../tags/tag45.xml"/><Relationship Id="rId23" Type="http://schemas.openxmlformats.org/officeDocument/2006/relationships/tags" Target="../tags/tag53.xml"/><Relationship Id="rId28" Type="http://schemas.openxmlformats.org/officeDocument/2006/relationships/tags" Target="../tags/tag58.xml"/><Relationship Id="rId36" Type="http://schemas.openxmlformats.org/officeDocument/2006/relationships/tags" Target="../tags/tag66.xml"/><Relationship Id="rId49" Type="http://schemas.openxmlformats.org/officeDocument/2006/relationships/tags" Target="../tags/tag79.xml"/><Relationship Id="rId57" Type="http://schemas.openxmlformats.org/officeDocument/2006/relationships/tags" Target="../tags/tag87.xml"/><Relationship Id="rId10" Type="http://schemas.openxmlformats.org/officeDocument/2006/relationships/tags" Target="../tags/tag40.xml"/><Relationship Id="rId31" Type="http://schemas.openxmlformats.org/officeDocument/2006/relationships/tags" Target="../tags/tag61.xml"/><Relationship Id="rId44" Type="http://schemas.openxmlformats.org/officeDocument/2006/relationships/tags" Target="../tags/tag74.xml"/><Relationship Id="rId52" Type="http://schemas.openxmlformats.org/officeDocument/2006/relationships/tags" Target="../tags/tag82.xml"/><Relationship Id="rId60" Type="http://schemas.openxmlformats.org/officeDocument/2006/relationships/tags" Target="../tags/tag90.xml"/><Relationship Id="rId65" Type="http://schemas.openxmlformats.org/officeDocument/2006/relationships/image" Target="../media/image19.emf"/><Relationship Id="rId73" Type="http://schemas.openxmlformats.org/officeDocument/2006/relationships/image" Target="../media/image27.emf"/><Relationship Id="rId78" Type="http://schemas.openxmlformats.org/officeDocument/2006/relationships/image" Target="../media/image32.emf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39" Type="http://schemas.openxmlformats.org/officeDocument/2006/relationships/tags" Target="../tags/tag69.xml"/><Relationship Id="rId34" Type="http://schemas.openxmlformats.org/officeDocument/2006/relationships/tags" Target="../tags/tag64.xml"/><Relationship Id="rId50" Type="http://schemas.openxmlformats.org/officeDocument/2006/relationships/tags" Target="../tags/tag80.xml"/><Relationship Id="rId55" Type="http://schemas.openxmlformats.org/officeDocument/2006/relationships/tags" Target="../tags/tag85.xml"/><Relationship Id="rId76" Type="http://schemas.openxmlformats.org/officeDocument/2006/relationships/image" Target="../media/image30.emf"/><Relationship Id="rId7" Type="http://schemas.openxmlformats.org/officeDocument/2006/relationships/tags" Target="../tags/tag37.xml"/><Relationship Id="rId71" Type="http://schemas.openxmlformats.org/officeDocument/2006/relationships/image" Target="../media/image25.emf"/><Relationship Id="rId2" Type="http://schemas.openxmlformats.org/officeDocument/2006/relationships/tags" Target="../tags/tag32.xml"/><Relationship Id="rId29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3.xml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4.xml"/><Relationship Id="rId4" Type="http://schemas.openxmlformats.org/officeDocument/2006/relationships/image" Target="../media/image3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5.xml"/><Relationship Id="rId4" Type="http://schemas.openxmlformats.org/officeDocument/2006/relationships/image" Target="../media/image3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6.xml"/><Relationship Id="rId4" Type="http://schemas.openxmlformats.org/officeDocument/2006/relationships/image" Target="../media/image3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7" Type="http://schemas.openxmlformats.org/officeDocument/2006/relationships/image" Target="../media/image38.emf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1.xml"/><Relationship Id="rId4" Type="http://schemas.openxmlformats.org/officeDocument/2006/relationships/image" Target="../media/image3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2.xml"/><Relationship Id="rId4" Type="http://schemas.openxmlformats.org/officeDocument/2006/relationships/image" Target="../media/image4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3.xml"/><Relationship Id="rId4" Type="http://schemas.openxmlformats.org/officeDocument/2006/relationships/image" Target="../media/image4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42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8.xml"/><Relationship Id="rId4" Type="http://schemas.openxmlformats.org/officeDocument/2006/relationships/image" Target="../media/image4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9.xml"/><Relationship Id="rId4" Type="http://schemas.openxmlformats.org/officeDocument/2006/relationships/image" Target="../media/image4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0.xml"/><Relationship Id="rId4" Type="http://schemas.openxmlformats.org/officeDocument/2006/relationships/image" Target="../media/image45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1.xml"/><Relationship Id="rId4" Type="http://schemas.openxmlformats.org/officeDocument/2006/relationships/image" Target="../media/image4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C383-C12F-2363-E871-8D865F264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title.tex}}&#10;&#10;\end{document}" title="IguanaTex Picture Display">
            <a:extLst>
              <a:ext uri="{FF2B5EF4-FFF2-40B4-BE49-F238E27FC236}">
                <a16:creationId xmlns:a16="http://schemas.microsoft.com/office/drawing/2014/main" id="{3E588295-FD9A-5987-EEA5-8D0CD544A0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2400" y="350410"/>
            <a:ext cx="11887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6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B6806-04B5-E668-8C21-C1FD19A3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challenges.tex}}&#10;&#10;\end{document}" title="IguanaTex Picture Display">
            <a:extLst>
              <a:ext uri="{FF2B5EF4-FFF2-40B4-BE49-F238E27FC236}">
                <a16:creationId xmlns:a16="http://schemas.microsoft.com/office/drawing/2014/main" id="{AAE26666-2D60-0831-97D5-AF4BDFF08A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75193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5AE3B7-EED0-0888-FB04-DEEF6B4646F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2529943"/>
              </p:ext>
            </p:extLst>
          </p:nvPr>
        </p:nvGraphicFramePr>
        <p:xfrm>
          <a:off x="409254" y="2469063"/>
          <a:ext cx="11373491" cy="2967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718">
                  <a:extLst>
                    <a:ext uri="{9D8B030D-6E8A-4147-A177-3AD203B41FA5}">
                      <a16:colId xmlns:a16="http://schemas.microsoft.com/office/drawing/2014/main" val="1006106226"/>
                    </a:ext>
                  </a:extLst>
                </a:gridCol>
                <a:gridCol w="3719245">
                  <a:extLst>
                    <a:ext uri="{9D8B030D-6E8A-4147-A177-3AD203B41FA5}">
                      <a16:colId xmlns:a16="http://schemas.microsoft.com/office/drawing/2014/main" val="4204203338"/>
                    </a:ext>
                  </a:extLst>
                </a:gridCol>
                <a:gridCol w="4354528">
                  <a:extLst>
                    <a:ext uri="{9D8B030D-6E8A-4147-A177-3AD203B41FA5}">
                      <a16:colId xmlns:a16="http://schemas.microsoft.com/office/drawing/2014/main" val="682938951"/>
                    </a:ext>
                  </a:extLst>
                </a:gridCol>
              </a:tblGrid>
              <a:tr h="675967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"/>
                        </a:rPr>
                        <a:t>Approaches for</a:t>
                      </a: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"/>
                        </a:rPr>
                        <a:t>forward/inverse problems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6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"/>
                        </a:rPr>
                        <a:t>Pros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6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"/>
                        </a:rPr>
                        <a:t>Cons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6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007599"/>
                  </a:ext>
                </a:extLst>
              </a:tr>
              <a:tr h="109700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Numerical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Accurate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Computationally expensive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Time-consuming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374601"/>
                  </a:ext>
                </a:extLst>
              </a:tr>
              <a:tr h="11697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Machine learning 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surrogate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Can be used as fast solvers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A lot of data for training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"/>
                        </a:rPr>
                        <a:t>Non-physics solutions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71991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4B825D4-2ACD-E7BA-D93A-0A7E217DFC4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09254" y="5773833"/>
            <a:ext cx="11373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762375">
              <a:spcAft>
                <a:spcPts val="10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Can we learn </a:t>
            </a:r>
            <a:r>
              <a:rPr lang="en-US" sz="2000" b="1" dirty="0">
                <a:solidFill>
                  <a:srgbClr val="BE6E00"/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fast </a:t>
            </a:r>
            <a:r>
              <a:rPr lang="en-US" sz="2000" b="1" dirty="0">
                <a:solidFill>
                  <a:srgbClr val="BE6E00"/>
                </a:solidFill>
                <a:latin typeface=""/>
              </a:rPr>
              <a:t>forward/inverse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surrogate models</a:t>
            </a:r>
            <a:r>
              <a:rPr lang="en-US" sz="2000" dirty="0">
                <a:solidFill>
                  <a:srgbClr val="BE6E00"/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with </a:t>
            </a:r>
            <a:r>
              <a:rPr lang="en-US" sz="2000" b="1" dirty="0">
                <a:solidFill>
                  <a:srgbClr val="BE6E00"/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limited data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 and respect</a:t>
            </a:r>
            <a:r>
              <a:rPr lang="en-US" sz="2000" b="1" dirty="0">
                <a:solidFill>
                  <a:srgbClr val="BE6E00"/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 physics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938B0-74DC-6588-0DA8-CC4C6A2D702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09254" y="859987"/>
            <a:ext cx="11373491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62375">
              <a:spcAft>
                <a:spcPts val="10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In many scientific engineering applications</a:t>
            </a:r>
          </a:p>
          <a:p>
            <a:pPr marL="800100" lvl="1" indent="-342900" defTabSz="3762375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Real-time forward/inverse solvers are crucial</a:t>
            </a:r>
          </a:p>
          <a:p>
            <a:pPr marL="800100" lvl="1" indent="-342900" defTabSz="3762375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"/>
                <a:ea typeface="Open Sans" panose="020B0606030504020204" pitchFamily="34" charset="0"/>
                <a:cs typeface="Open Sans" panose="020B0606030504020204" pitchFamily="34" charset="0"/>
              </a:rPr>
              <a:t>Data is costly and not always 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C5E926-A7B5-ADC6-CDD0-0A121734ECF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57536" y="2240187"/>
            <a:ext cx="11876926" cy="40069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Real-time seismic-while-drilling to reduce exploration risk | Offshore">
            <a:extLst>
              <a:ext uri="{FF2B5EF4-FFF2-40B4-BE49-F238E27FC236}">
                <a16:creationId xmlns:a16="http://schemas.microsoft.com/office/drawing/2014/main" id="{70CC0D48-0F5D-2EE2-07CC-B9F644DFDF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9" t="-90" r="15919"/>
          <a:stretch/>
        </p:blipFill>
        <p:spPr bwMode="auto">
          <a:xfrm>
            <a:off x="602977" y="2246104"/>
            <a:ext cx="5314937" cy="410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rine Seismic Methods | Environmental Geophysics | US EPA">
            <a:extLst>
              <a:ext uri="{FF2B5EF4-FFF2-40B4-BE49-F238E27FC236}">
                <a16:creationId xmlns:a16="http://schemas.microsoft.com/office/drawing/2014/main" id="{F0B1DF16-F561-3029-0290-3C50B039E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860" y="2244747"/>
            <a:ext cx="4886420" cy="409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64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surrogates.tex}}&#10;&#10;\end{document}" title="IguanaTex Picture Display">
            <a:extLst>
              <a:ext uri="{FF2B5EF4-FFF2-40B4-BE49-F238E27FC236}">
                <a16:creationId xmlns:a16="http://schemas.microsoft.com/office/drawing/2014/main" id="{28DF9579-DB35-9565-3195-CFD328D2E7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75193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F64CD0-C218-8B18-66A6-78EE2D639A7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65293229"/>
              </p:ext>
            </p:extLst>
          </p:nvPr>
        </p:nvGraphicFramePr>
        <p:xfrm>
          <a:off x="625082" y="3332869"/>
          <a:ext cx="11106222" cy="222801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25937">
                  <a:extLst>
                    <a:ext uri="{9D8B030D-6E8A-4147-A177-3AD203B41FA5}">
                      <a16:colId xmlns:a16="http://schemas.microsoft.com/office/drawing/2014/main" val="1186835587"/>
                    </a:ext>
                  </a:extLst>
                </a:gridCol>
                <a:gridCol w="4507006">
                  <a:extLst>
                    <a:ext uri="{9D8B030D-6E8A-4147-A177-3AD203B41FA5}">
                      <a16:colId xmlns:a16="http://schemas.microsoft.com/office/drawing/2014/main" val="3442439437"/>
                    </a:ext>
                  </a:extLst>
                </a:gridCol>
                <a:gridCol w="1676473">
                  <a:extLst>
                    <a:ext uri="{9D8B030D-6E8A-4147-A177-3AD203B41FA5}">
                      <a16:colId xmlns:a16="http://schemas.microsoft.com/office/drawing/2014/main" val="3437459828"/>
                    </a:ext>
                  </a:extLst>
                </a:gridCol>
                <a:gridCol w="2130254">
                  <a:extLst>
                    <a:ext uri="{9D8B030D-6E8A-4147-A177-3AD203B41FA5}">
                      <a16:colId xmlns:a16="http://schemas.microsoft.com/office/drawing/2014/main" val="123081574"/>
                    </a:ext>
                  </a:extLst>
                </a:gridCol>
                <a:gridCol w="2166552">
                  <a:extLst>
                    <a:ext uri="{9D8B030D-6E8A-4147-A177-3AD203B41FA5}">
                      <a16:colId xmlns:a16="http://schemas.microsoft.com/office/drawing/2014/main" val="3989776982"/>
                    </a:ext>
                  </a:extLst>
                </a:gridCol>
              </a:tblGrid>
              <a:tr h="371336">
                <a:tc rowSpan="6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"/>
                        </a:rPr>
                        <a:t>Forward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"/>
                        </a:rPr>
                        <a:t>(1) PINN 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[</a:t>
                      </a:r>
                      <a:r>
                        <a:rPr lang="en-US" sz="1800" b="0" dirty="0" err="1">
                          <a:solidFill>
                            <a:srgbClr val="0070C0"/>
                          </a:solidFill>
                          <a:latin typeface=""/>
                        </a:rPr>
                        <a:t>Raissi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 M.]</a:t>
                      </a:r>
                      <a:endParaRPr lang="en-US" b="0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883820"/>
                  </a:ext>
                </a:extLst>
              </a:tr>
              <a:tr h="371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"/>
                        </a:rPr>
                        <a:t>(2) Data-driven ML 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[Iakovlev V.]</a:t>
                      </a:r>
                      <a:endParaRPr lang="en-US" b="0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&gt;&gt; 1 sample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"/>
                        </a:rPr>
                        <a:t>_</a:t>
                      </a:r>
                      <a:endParaRPr lang="en-US" b="0" dirty="0">
                        <a:solidFill>
                          <a:srgbClr val="FF0000"/>
                        </a:solidFill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  <a:endParaRPr lang="en-US" b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925012"/>
                  </a:ext>
                </a:extLst>
              </a:tr>
              <a:tr h="371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"/>
                        </a:rPr>
                        <a:t>(3) Physics-based ML 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[Li </a:t>
                      </a:r>
                      <a:r>
                        <a:rPr lang="en-US" sz="1800" b="0" dirty="0" err="1">
                          <a:solidFill>
                            <a:srgbClr val="0070C0"/>
                          </a:solidFill>
                          <a:latin typeface=""/>
                        </a:rPr>
                        <a:t>Zijie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]</a:t>
                      </a:r>
                      <a:endParaRPr lang="en-US" b="0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&gt; 1 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  <a:endParaRPr lang="en-US" b="0" dirty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912349"/>
                  </a:ext>
                </a:extLst>
              </a:tr>
              <a:tr h="371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"/>
                        </a:rPr>
                        <a:t>(4) Operator Learning 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[Li Z.], [Lu Lu]</a:t>
                      </a:r>
                      <a:endParaRPr lang="en-US" b="0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&gt; 1 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  <a:endParaRPr lang="en-US" b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44475"/>
                  </a:ext>
                </a:extLst>
              </a:tr>
              <a:tr h="371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"/>
                        </a:rPr>
                        <a:t>(5) Neural ODE/RNN 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[Chen R. T.] </a:t>
                      </a:r>
                      <a:endParaRPr lang="en-US" b="0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&gt; 1 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  <a:endParaRPr lang="en-US" b="0" dirty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79614"/>
                  </a:ext>
                </a:extLst>
              </a:tr>
              <a:tr h="3713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"/>
                        </a:rPr>
                        <a:t>TAEN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"/>
                        </a:rPr>
                        <a:t>1sample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60359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7CDEBBC-3D86-814C-24DF-80696AEC1FB7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25082" y="1017818"/>
          <a:ext cx="11106222" cy="3842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25937">
                  <a:extLst>
                    <a:ext uri="{9D8B030D-6E8A-4147-A177-3AD203B41FA5}">
                      <a16:colId xmlns:a16="http://schemas.microsoft.com/office/drawing/2014/main" val="2871230458"/>
                    </a:ext>
                  </a:extLst>
                </a:gridCol>
                <a:gridCol w="4507006">
                  <a:extLst>
                    <a:ext uri="{9D8B030D-6E8A-4147-A177-3AD203B41FA5}">
                      <a16:colId xmlns:a16="http://schemas.microsoft.com/office/drawing/2014/main" val="1773398670"/>
                    </a:ext>
                  </a:extLst>
                </a:gridCol>
                <a:gridCol w="1676473">
                  <a:extLst>
                    <a:ext uri="{9D8B030D-6E8A-4147-A177-3AD203B41FA5}">
                      <a16:colId xmlns:a16="http://schemas.microsoft.com/office/drawing/2014/main" val="4189541407"/>
                    </a:ext>
                  </a:extLst>
                </a:gridCol>
                <a:gridCol w="2130254">
                  <a:extLst>
                    <a:ext uri="{9D8B030D-6E8A-4147-A177-3AD203B41FA5}">
                      <a16:colId xmlns:a16="http://schemas.microsoft.com/office/drawing/2014/main" val="3655582217"/>
                    </a:ext>
                  </a:extLst>
                </a:gridCol>
                <a:gridCol w="2166552">
                  <a:extLst>
                    <a:ext uri="{9D8B030D-6E8A-4147-A177-3AD203B41FA5}">
                      <a16:colId xmlns:a16="http://schemas.microsoft.com/office/drawing/2014/main" val="1386119135"/>
                    </a:ext>
                  </a:extLst>
                </a:gridCol>
              </a:tblGrid>
              <a:tr h="384252">
                <a:tc>
                  <a:txBody>
                    <a:bodyPr/>
                    <a:lstStyle/>
                    <a:p>
                      <a:endParaRPr lang="en-US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6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"/>
                        </a:rPr>
                        <a:t>Approaches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6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"/>
                        </a:rPr>
                        <a:t>Speed 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6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"/>
                        </a:rPr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6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"/>
                        </a:rPr>
                        <a:t>Generalization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6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8545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C6F283-E414-70E4-9DA6-CBB163A742D3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02595251"/>
              </p:ext>
            </p:extLst>
          </p:nvPr>
        </p:nvGraphicFramePr>
        <p:xfrm>
          <a:off x="625082" y="1402070"/>
          <a:ext cx="11106222" cy="19212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625937">
                  <a:extLst>
                    <a:ext uri="{9D8B030D-6E8A-4147-A177-3AD203B41FA5}">
                      <a16:colId xmlns:a16="http://schemas.microsoft.com/office/drawing/2014/main" val="2871230458"/>
                    </a:ext>
                  </a:extLst>
                </a:gridCol>
                <a:gridCol w="4507006">
                  <a:extLst>
                    <a:ext uri="{9D8B030D-6E8A-4147-A177-3AD203B41FA5}">
                      <a16:colId xmlns:a16="http://schemas.microsoft.com/office/drawing/2014/main" val="1773398670"/>
                    </a:ext>
                  </a:extLst>
                </a:gridCol>
                <a:gridCol w="1676473">
                  <a:extLst>
                    <a:ext uri="{9D8B030D-6E8A-4147-A177-3AD203B41FA5}">
                      <a16:colId xmlns:a16="http://schemas.microsoft.com/office/drawing/2014/main" val="4189541407"/>
                    </a:ext>
                  </a:extLst>
                </a:gridCol>
                <a:gridCol w="2130254">
                  <a:extLst>
                    <a:ext uri="{9D8B030D-6E8A-4147-A177-3AD203B41FA5}">
                      <a16:colId xmlns:a16="http://schemas.microsoft.com/office/drawing/2014/main" val="3655582217"/>
                    </a:ext>
                  </a:extLst>
                </a:gridCol>
                <a:gridCol w="2166552">
                  <a:extLst>
                    <a:ext uri="{9D8B030D-6E8A-4147-A177-3AD203B41FA5}">
                      <a16:colId xmlns:a16="http://schemas.microsoft.com/office/drawing/2014/main" val="1386119135"/>
                    </a:ext>
                  </a:extLst>
                </a:gridCol>
              </a:tblGrid>
              <a:tr h="384252">
                <a:tc rowSpan="5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"/>
                        </a:rPr>
                        <a:t>Inverse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"/>
                        </a:rPr>
                        <a:t>(1) PINN 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[</a:t>
                      </a:r>
                      <a:r>
                        <a:rPr lang="en-US" sz="1800" b="0" dirty="0" err="1">
                          <a:solidFill>
                            <a:srgbClr val="0070C0"/>
                          </a:solidFill>
                          <a:latin typeface=""/>
                        </a:rPr>
                        <a:t>Raissi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"/>
                        </a:rPr>
                        <a:t> M.]</a:t>
                      </a:r>
                      <a:endParaRPr lang="en-US" b="0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"/>
                        </a:rPr>
                        <a:t>Ye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"/>
                        </a:rPr>
                        <a:t>1sample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596016"/>
                  </a:ext>
                </a:extLst>
              </a:tr>
              <a:tr h="3842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"/>
                        </a:rPr>
                        <a:t>(2) Data-driven ML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latin typeface=""/>
                        </a:rPr>
                        <a:t>[Yue Wu]</a:t>
                      </a:r>
                      <a:endParaRPr lang="en-US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&gt;&gt; 1 sample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"/>
                        </a:rPr>
                        <a:t>_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623356"/>
                  </a:ext>
                </a:extLst>
              </a:tr>
              <a:tr h="3842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"/>
                        </a:rPr>
                        <a:t>(3) Physics-based ML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latin typeface=""/>
                        </a:rPr>
                        <a:t>[Gregory O.]</a:t>
                      </a:r>
                      <a:endParaRPr lang="en-US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&gt; 1 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985373"/>
                  </a:ext>
                </a:extLst>
              </a:tr>
              <a:tr h="3842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"/>
                        </a:rPr>
                        <a:t>(4) Leaning </a:t>
                      </a:r>
                      <a:r>
                        <a:rPr lang="en-US" dirty="0" err="1">
                          <a:latin typeface=""/>
                        </a:rPr>
                        <a:t>Regularizer</a:t>
                      </a:r>
                      <a:r>
                        <a:rPr lang="en-US" dirty="0">
                          <a:latin typeface="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latin typeface=""/>
                        </a:rPr>
                        <a:t>[Yaniv R.]</a:t>
                      </a:r>
                      <a:endParaRPr lang="en-US" dirty="0">
                        <a:latin typeface="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  <a:latin typeface=""/>
                        </a:rPr>
                        <a:t>&gt;&gt; 1 sample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"/>
                        </a:rPr>
                        <a:t>_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130298"/>
                  </a:ext>
                </a:extLst>
              </a:tr>
              <a:tr h="3842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"/>
                        </a:rPr>
                        <a:t>TAEN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"/>
                        </a:rPr>
                        <a:t>1sample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2807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50333AE-9FD6-5D19-B7F9-26AE1A251E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60430" y="5904269"/>
            <a:ext cx="10671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C55319"/>
                </a:solidFill>
                <a:latin typeface=""/>
              </a:rPr>
              <a:t>TAEN: trained with 1 sample + offers real-time forward/inverse solvers + generalizable</a:t>
            </a:r>
          </a:p>
        </p:txBody>
      </p:sp>
    </p:spTree>
    <p:extLst>
      <p:ext uri="{BB962C8B-B14F-4D97-AF65-F5344CB8AC3E}">
        <p14:creationId xmlns:p14="http://schemas.microsoft.com/office/powerpoint/2010/main" val="275720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0BCA-3DE6-BEBC-96A2-BBF1DB11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linear_settings.tex}}&#10;&#10;\end{document}" title="IguanaTex Picture Display">
            <a:extLst>
              <a:ext uri="{FF2B5EF4-FFF2-40B4-BE49-F238E27FC236}">
                <a16:creationId xmlns:a16="http://schemas.microsoft.com/office/drawing/2014/main" id="{97577354-5CEC-4CAB-724E-A31B0EF2B7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1"/>
            <a:ext cx="12192000" cy="5219272"/>
          </a:xfrm>
          <a:prstGeom prst="rect">
            <a:avLst/>
          </a:prstGeom>
        </p:spPr>
      </p:pic>
      <p:sp>
        <p:nvSpPr>
          <p:cNvPr id="23" name="Trapezoid 22">
            <a:extLst>
              <a:ext uri="{FF2B5EF4-FFF2-40B4-BE49-F238E27FC236}">
                <a16:creationId xmlns:a16="http://schemas.microsoft.com/office/drawing/2014/main" id="{8D2D59D2-7735-CD9A-EE8E-DFC256D9BC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5400000">
            <a:off x="4351105" y="5008653"/>
            <a:ext cx="996593" cy="1767155"/>
          </a:xfrm>
          <a:prstGeom prst="trapezoid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553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Encoder</a:t>
            </a:r>
          </a:p>
        </p:txBody>
      </p:sp>
      <p:pic>
        <p:nvPicPr>
          <p:cNvPr id="53" name="Picture 52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 title="IguanaTex Picture Display">
            <a:extLst>
              <a:ext uri="{FF2B5EF4-FFF2-40B4-BE49-F238E27FC236}">
                <a16:creationId xmlns:a16="http://schemas.microsoft.com/office/drawing/2014/main" id="{BB898F3B-6FEB-70B9-5C99-51086B3CCDF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569405" y="5798238"/>
            <a:ext cx="161128" cy="187983"/>
          </a:xfrm>
          <a:prstGeom prst="rect">
            <a:avLst/>
          </a:prstGeom>
        </p:spPr>
      </p:pic>
      <p:pic>
        <p:nvPicPr>
          <p:cNvPr id="55" name="Picture 54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ub \]&#10;&#10;\end{document}" title="IguanaTex Picture Display">
            <a:extLst>
              <a:ext uri="{FF2B5EF4-FFF2-40B4-BE49-F238E27FC236}">
                <a16:creationId xmlns:a16="http://schemas.microsoft.com/office/drawing/2014/main" id="{B0894293-F817-84BB-5739-02D2AD19F55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002517" y="5819141"/>
            <a:ext cx="187983" cy="134274"/>
          </a:xfrm>
          <a:prstGeom prst="rect">
            <a:avLst/>
          </a:prstGeom>
        </p:spPr>
      </p:pic>
      <p:sp>
        <p:nvSpPr>
          <p:cNvPr id="28" name="Trapezoid 27">
            <a:extLst>
              <a:ext uri="{FF2B5EF4-FFF2-40B4-BE49-F238E27FC236}">
                <a16:creationId xmlns:a16="http://schemas.microsoft.com/office/drawing/2014/main" id="{9E60E8FC-3507-D4A4-0884-BE17B7195B3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16200000" flipH="1">
            <a:off x="6813481" y="5008651"/>
            <a:ext cx="996593" cy="1767155"/>
          </a:xfrm>
          <a:prstGeom prst="trapezoid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553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Decoder</a:t>
            </a:r>
          </a:p>
        </p:txBody>
      </p:sp>
      <p:pic>
        <p:nvPicPr>
          <p:cNvPr id="57" name="Picture 56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text{ or } \omb \]&#10;&#10;\end{document}" title="IguanaTex Picture Display">
            <a:extLst>
              <a:ext uri="{FF2B5EF4-FFF2-40B4-BE49-F238E27FC236}">
                <a16:creationId xmlns:a16="http://schemas.microsoft.com/office/drawing/2014/main" id="{392AF0D8-0971-7339-F7BE-0B7D57076EC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436480" y="5771383"/>
            <a:ext cx="805640" cy="2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08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73B3-F14A-0463-E587-4DBEF195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all_AE.tex}}&#10;&#10;\end{document}" title="IguanaTex Picture Display">
            <a:extLst>
              <a:ext uri="{FF2B5EF4-FFF2-40B4-BE49-F238E27FC236}">
                <a16:creationId xmlns:a16="http://schemas.microsoft.com/office/drawing/2014/main" id="{D0FBB203-C36F-39A7-7F29-4759222978D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"/>
            <a:ext cx="12192000" cy="405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8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EED85-8982-5C43-FCCB-04097BC9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aive_AE}}&#10;&#10;\end{document}" title="IguanaTex Picture Display">
            <a:extLst>
              <a:ext uri="{FF2B5EF4-FFF2-40B4-BE49-F238E27FC236}">
                <a16:creationId xmlns:a16="http://schemas.microsoft.com/office/drawing/2014/main" id="{CD4F885D-0EFA-0B2C-4AB3-B647D2A1EF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"/>
            <a:ext cx="12192000" cy="560596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FD67C02-2869-A156-1656-9E3EF00C6C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6306" y="2753474"/>
            <a:ext cx="11733087" cy="3770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55319"/>
                </a:solidFill>
                <a:latin typeface=""/>
              </a:rPr>
              <a:t>Please see our preprint for why not train both encoder and decoder simultaneously!</a:t>
            </a:r>
          </a:p>
        </p:txBody>
      </p:sp>
    </p:spTree>
    <p:extLst>
      <p:ext uri="{BB962C8B-B14F-4D97-AF65-F5344CB8AC3E}">
        <p14:creationId xmlns:p14="http://schemas.microsoft.com/office/powerpoint/2010/main" val="134859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26CF4-4FED-F505-5CA0-8C2F0E85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scheme_phase_1.tex}}&#10;&#10;\end{document}" title="IguanaTex Picture Display">
            <a:extLst>
              <a:ext uri="{FF2B5EF4-FFF2-40B4-BE49-F238E27FC236}">
                <a16:creationId xmlns:a16="http://schemas.microsoft.com/office/drawing/2014/main" id="{C8044D34-06D7-D8C2-ADD1-F07B40B7AEF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5256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DB64EC-8808-BE1C-EFFC-912A9BCAE99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37106" y="883578"/>
            <a:ext cx="3575406" cy="100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scheme_phase_1_cont.tex}}&#10;&#10;\end{document}" title="IguanaTex Picture Display">
            <a:extLst>
              <a:ext uri="{FF2B5EF4-FFF2-40B4-BE49-F238E27FC236}">
                <a16:creationId xmlns:a16="http://schemas.microsoft.com/office/drawing/2014/main" id="{C8CB263E-C238-7400-EF2A-D943CF2D297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5256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FF4C531-3F1C-18AC-D793-1A99F51C867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9901" y="1017679"/>
            <a:ext cx="2695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"/>
              </a:rPr>
              <a:t>Training Encoder</a:t>
            </a:r>
          </a:p>
        </p:txBody>
      </p:sp>
    </p:spTree>
    <p:extLst>
      <p:ext uri="{BB962C8B-B14F-4D97-AF65-F5344CB8AC3E}">
        <p14:creationId xmlns:p14="http://schemas.microsoft.com/office/powerpoint/2010/main" val="260308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F4A99-03FA-1290-ED2B-1A88677CF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scheme_phase_2.tex}}&#10;&#10;\end{document}" title="IguanaTex Picture Display">
            <a:extLst>
              <a:ext uri="{FF2B5EF4-FFF2-40B4-BE49-F238E27FC236}">
                <a16:creationId xmlns:a16="http://schemas.microsoft.com/office/drawing/2014/main" id="{A41411B7-7D85-6183-0639-351DB3EEB7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445112"/>
          </a:xfrm>
          <a:prstGeom prst="rect">
            <a:avLst/>
          </a:prstGeom>
        </p:spPr>
      </p:pic>
      <p:pic>
        <p:nvPicPr>
          <p:cNvPr id="31" name="Picture 30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scheme_phase_2_cont.tex}}&#10;&#10;\end{document}" title="IguanaTex Picture Display">
            <a:extLst>
              <a:ext uri="{FF2B5EF4-FFF2-40B4-BE49-F238E27FC236}">
                <a16:creationId xmlns:a16="http://schemas.microsoft.com/office/drawing/2014/main" id="{F94E0BB0-442B-74B1-8F6E-85363F7281F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44511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C39464-53A7-ADBB-F75E-27499CBF585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29901" y="1017679"/>
            <a:ext cx="26972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"/>
              </a:rPr>
              <a:t>Training Decoder</a:t>
            </a:r>
          </a:p>
          <a:p>
            <a:r>
              <a:rPr lang="en-US" dirty="0">
                <a:latin typeface=""/>
              </a:rPr>
              <a:t>with pre-trained encoder</a:t>
            </a:r>
          </a:p>
        </p:txBody>
      </p:sp>
    </p:spTree>
    <p:extLst>
      <p:ext uri="{BB962C8B-B14F-4D97-AF65-F5344CB8AC3E}">
        <p14:creationId xmlns:p14="http://schemas.microsoft.com/office/powerpoint/2010/main" val="408456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CCAD-8EE4-8A1A-2C90-A786086C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.tex}}&#10;&#10;\end{document}" title="IguanaTex Picture Display">
            <a:extLst>
              <a:ext uri="{FF2B5EF4-FFF2-40B4-BE49-F238E27FC236}">
                <a16:creationId xmlns:a16="http://schemas.microsoft.com/office/drawing/2014/main" id="{1F6A3EB0-B610-678B-248A-FE5551312E5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9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69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057F7-8ED4-828A-2215-8DE5D309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cont.tex}}&#10;&#10;\end{document}" title="IguanaTex Picture Display">
            <a:extLst>
              <a:ext uri="{FF2B5EF4-FFF2-40B4-BE49-F238E27FC236}">
                <a16:creationId xmlns:a16="http://schemas.microsoft.com/office/drawing/2014/main" id="{9BDA55A1-40FF-F5F1-40D2-15A9EC70C1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596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7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7071-D99D-32A2-55F8-DA93A522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TAEN}}&#10;&#10;\end{document}" title="IguanaTex Picture Display">
            <a:extLst>
              <a:ext uri="{FF2B5EF4-FFF2-40B4-BE49-F238E27FC236}">
                <a16:creationId xmlns:a16="http://schemas.microsoft.com/office/drawing/2014/main" id="{F3457300-8425-D8A9-D6AF-8FE389C4E7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57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68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F4CC-E6F4-DCAB-9EF8-0AE4FB1C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208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Y_full_row_rank.tex}}&#10;&#10;\end{document}" title="IguanaTex Picture Display">
            <a:extLst>
              <a:ext uri="{FF2B5EF4-FFF2-40B4-BE49-F238E27FC236}">
                <a16:creationId xmlns:a16="http://schemas.microsoft.com/office/drawing/2014/main" id="{6D8C47E0-CFCC-F1B6-0DBA-A8D77E57646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5"/>
          <a:stretch>
            <a:fillRect/>
          </a:stretch>
        </p:blipFill>
        <p:spPr>
          <a:xfrm>
            <a:off x="0" y="0"/>
            <a:ext cx="12192000" cy="7519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500302-2933-FCF1-F30E-DD244C0F66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27664" y="2817690"/>
            <a:ext cx="133564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8FBBDC-180C-0E12-7CC2-5EEBF611554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913655" y="976904"/>
            <a:ext cx="133564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283E18-E849-5D7D-4C8E-2A9007E1817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13655" y="2281519"/>
            <a:ext cx="133564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33E23F-FCE6-24C8-B01C-A7710A9A4C7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13655" y="4890749"/>
            <a:ext cx="133564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B350A1-CDEF-3AB3-78B2-9722915B7CE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961744" y="3594788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E7A627-6246-03C1-879C-A1FD7FA02D16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 flipV="1">
            <a:off x="1392092" y="1434104"/>
            <a:ext cx="1438382" cy="1851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83F414-6F3F-B433-7A5C-F4171254D478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 flipV="1">
            <a:off x="1392092" y="2738719"/>
            <a:ext cx="1438382" cy="546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7F3E113-377C-8998-9DAB-295E19174046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1392092" y="3274890"/>
            <a:ext cx="1438382" cy="2073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1" name="Picture 210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 title="IguanaTex Picture Display">
            <a:extLst>
              <a:ext uri="{FF2B5EF4-FFF2-40B4-BE49-F238E27FC236}">
                <a16:creationId xmlns:a16="http://schemas.microsoft.com/office/drawing/2014/main" id="{033FCAAF-740A-AF8D-3C38-25F3AF0FF28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1113882" y="3923191"/>
            <a:ext cx="161128" cy="1879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37C33FD-628E-F677-F0AD-AEF8A7BD4FE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508449" y="3195919"/>
            <a:ext cx="106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replicate</a:t>
            </a:r>
          </a:p>
        </p:txBody>
      </p:sp>
      <p:pic>
        <p:nvPicPr>
          <p:cNvPr id="213" name="Picture 212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\def\layersep{1.7cm}&#10;\def\nodeinlayersep{1.cm}&#10;% Define UT orange using RGB values&#10;\definecolor{utorange}{RGB}{255,130,0}&#10;&#10;\begin{figure}[htb!]&#10;        \centering&#10;\resizebox{0.65\textwidth}{!}{&#10;        \begin{tikzpicture}[&#10;            node distance=\layersep,&#10;            edge/.style={-stealth,shorten &gt;=1pt, draw=black!50,thin},&#10;            neuron/.style={circle,fill=black!25,minimum size=10pt,inner sep=0pt},&#10;            operator/.style={rectangle,fill=green!,minimum height= \nodeinlayersep, minimum width= 0.8 * \layersep, inner sep=0pt, rounded corners},&#10;            input noise/.style={neuron, draw = black, fill=gray!50,minimum size=16},&#10;            input neuron/.style={neuron, draw = black, fill=green!10,minimum size=16},&#10;            output neuron/.style={neuron, draw = black, fill=utorange!50,minimum size=16pt},&#10;            hidden neuron/.style={neuron, draw = black, fill=utorange!10, minimum size=16pt},&#10;            Forward map/.style={operator, draw = black, fill=utorange!100},&#10;            annot/.style={text width=4em, text centered},&#10;            every node/.style={scale=1.0},&#10;            node1/.style={scale=2.0}&#10;        ]&#10;        % Randomize machine engine&#10;        \node[rectangle,fill=gray!40,minimum height= \nodeinlayersep, minimum width= 1.6 * \layersep, rounded corners] (random_noise_engine) at (1.4*\layersep, -10.*\nodeinlayersep) {\begin{tabular}{c} $ \epsb^i \sim \mc{N} \LRp{\mathbf{0}, \epsilon^2 \LRs{\boldsymbol{\diag}\LRp{{\yb}}}^2}$ \end{tabular}};&#10;&#10;&#10;    \end{tikzpicture}&#10;}&#10;\end{figure}&#10;&#10;\end{document}" title="IguanaTex Picture Display">
            <a:extLst>
              <a:ext uri="{FF2B5EF4-FFF2-40B4-BE49-F238E27FC236}">
                <a16:creationId xmlns:a16="http://schemas.microsoft.com/office/drawing/2014/main" id="{8836B63E-FCB5-ECAE-FB39-028F9052834E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3977041" y="6024496"/>
            <a:ext cx="2230729" cy="451158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1B2F253-74B7-8F52-DE10-2025E634719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030680" y="976904"/>
            <a:ext cx="133564" cy="91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1609DC-069B-5AC3-0431-65F0388166A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030680" y="2281519"/>
            <a:ext cx="133564" cy="91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0E681B-14E7-2487-218D-F8C9AB18D82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030680" y="4890749"/>
            <a:ext cx="133564" cy="9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BF9F7E5-1807-9C94-536A-7645AE6128FB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961743" y="3920941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616483-2655-BDFA-E628-FBFC6C016529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961742" y="4247095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pic>
        <p:nvPicPr>
          <p:cNvPr id="215" name="Picture 214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 title="IguanaTex Picture Display">
            <a:extLst>
              <a:ext uri="{FF2B5EF4-FFF2-40B4-BE49-F238E27FC236}">
                <a16:creationId xmlns:a16="http://schemas.microsoft.com/office/drawing/2014/main" id="{6EA59E92-F2F9-49BF-F88B-488C2092D0F4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3128306" y="1340112"/>
            <a:ext cx="161128" cy="187983"/>
          </a:xfrm>
          <a:prstGeom prst="rect">
            <a:avLst/>
          </a:prstGeom>
        </p:spPr>
      </p:pic>
      <p:pic>
        <p:nvPicPr>
          <p:cNvPr id="217" name="Picture 216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 title="IguanaTex Picture Display">
            <a:extLst>
              <a:ext uri="{FF2B5EF4-FFF2-40B4-BE49-F238E27FC236}">
                <a16:creationId xmlns:a16="http://schemas.microsoft.com/office/drawing/2014/main" id="{391C2E23-5B3B-105B-CDF8-1A163A84BE21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69"/>
          <a:stretch>
            <a:fillRect/>
          </a:stretch>
        </p:blipFill>
        <p:spPr>
          <a:xfrm>
            <a:off x="3133022" y="2644727"/>
            <a:ext cx="161128" cy="187983"/>
          </a:xfrm>
          <a:prstGeom prst="rect">
            <a:avLst/>
          </a:prstGeom>
        </p:spPr>
      </p:pic>
      <p:pic>
        <p:nvPicPr>
          <p:cNvPr id="219" name="Picture 218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 title="IguanaTex Picture Display">
            <a:extLst>
              <a:ext uri="{FF2B5EF4-FFF2-40B4-BE49-F238E27FC236}">
                <a16:creationId xmlns:a16="http://schemas.microsoft.com/office/drawing/2014/main" id="{07ED1242-9D68-E66E-8648-A73998B0B582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3128306" y="5253957"/>
            <a:ext cx="161128" cy="187983"/>
          </a:xfrm>
          <a:prstGeom prst="rect">
            <a:avLst/>
          </a:prstGeom>
        </p:spPr>
      </p:pic>
      <p:pic>
        <p:nvPicPr>
          <p:cNvPr id="221" name="Picture 220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epsb^1 \]&#10;&#10;\end{document}" title="IguanaTex Picture Display">
            <a:extLst>
              <a:ext uri="{FF2B5EF4-FFF2-40B4-BE49-F238E27FC236}">
                <a16:creationId xmlns:a16="http://schemas.microsoft.com/office/drawing/2014/main" id="{3BAE3267-B4C1-F4FA-61ED-D5A6AA978A46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71"/>
          <a:stretch>
            <a:fillRect/>
          </a:stretch>
        </p:blipFill>
        <p:spPr>
          <a:xfrm>
            <a:off x="4255997" y="1259548"/>
            <a:ext cx="241692" cy="268547"/>
          </a:xfrm>
          <a:prstGeom prst="rect">
            <a:avLst/>
          </a:prstGeom>
        </p:spPr>
      </p:pic>
      <p:pic>
        <p:nvPicPr>
          <p:cNvPr id="223" name="Picture 222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epsb^2 \]&#10;&#10;\end{document}" title="IguanaTex Picture Display">
            <a:extLst>
              <a:ext uri="{FF2B5EF4-FFF2-40B4-BE49-F238E27FC236}">
                <a16:creationId xmlns:a16="http://schemas.microsoft.com/office/drawing/2014/main" id="{F7FFB02F-3C11-7904-5F10-64E30AD23E3E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4288839" y="2544661"/>
            <a:ext cx="241692" cy="268547"/>
          </a:xfrm>
          <a:prstGeom prst="rect">
            <a:avLst/>
          </a:prstGeom>
        </p:spPr>
      </p:pic>
      <p:pic>
        <p:nvPicPr>
          <p:cNvPr id="225" name="Picture 224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epsb^{n_t} \]&#10;&#10;\end{document}" title="IguanaTex Picture Display">
            <a:extLst>
              <a:ext uri="{FF2B5EF4-FFF2-40B4-BE49-F238E27FC236}">
                <a16:creationId xmlns:a16="http://schemas.microsoft.com/office/drawing/2014/main" id="{7738D238-DED7-C9BE-E7C1-8DBE2FBD9EFD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73"/>
          <a:stretch>
            <a:fillRect/>
          </a:stretch>
        </p:blipFill>
        <p:spPr>
          <a:xfrm>
            <a:off x="4285403" y="5224714"/>
            <a:ext cx="349111" cy="214838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4AA0F83-EB6E-DD7A-64A9-BC68DB493823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4071641" y="3594788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95E766B-8FA8-AF38-473B-38EBFA390C47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4071640" y="3920941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6B70609-C65E-A9B5-76D7-316173A81191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4071639" y="4247095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80" name="Plus 79">
            <a:extLst>
              <a:ext uri="{FF2B5EF4-FFF2-40B4-BE49-F238E27FC236}">
                <a16:creationId xmlns:a16="http://schemas.microsoft.com/office/drawing/2014/main" id="{EEA37751-CFB5-1BF3-6B02-216FE1F52837}"/>
              </a:ext>
            </a:extLst>
          </p:cNvPr>
          <p:cNvSpPr>
            <a:spLocks noChangeAspect="1"/>
          </p:cNvSpPr>
          <p:nvPr>
            <p:custDataLst>
              <p:tags r:id="rId27"/>
            </p:custDataLst>
          </p:nvPr>
        </p:nvSpPr>
        <p:spPr>
          <a:xfrm>
            <a:off x="3438725" y="1236170"/>
            <a:ext cx="365760" cy="365760"/>
          </a:xfrm>
          <a:prstGeom prst="mathPlus">
            <a:avLst>
              <a:gd name="adj1" fmla="val 1129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lus 80">
            <a:extLst>
              <a:ext uri="{FF2B5EF4-FFF2-40B4-BE49-F238E27FC236}">
                <a16:creationId xmlns:a16="http://schemas.microsoft.com/office/drawing/2014/main" id="{C8EE1049-45ED-78AF-1680-E8A85064E312}"/>
              </a:ext>
            </a:extLst>
          </p:cNvPr>
          <p:cNvSpPr>
            <a:spLocks noChangeAspect="1"/>
          </p:cNvSpPr>
          <p:nvPr>
            <p:custDataLst>
              <p:tags r:id="rId28"/>
            </p:custDataLst>
          </p:nvPr>
        </p:nvSpPr>
        <p:spPr>
          <a:xfrm>
            <a:off x="3438725" y="2515556"/>
            <a:ext cx="365760" cy="365760"/>
          </a:xfrm>
          <a:prstGeom prst="mathPlus">
            <a:avLst>
              <a:gd name="adj1" fmla="val 1129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lus 81">
            <a:extLst>
              <a:ext uri="{FF2B5EF4-FFF2-40B4-BE49-F238E27FC236}">
                <a16:creationId xmlns:a16="http://schemas.microsoft.com/office/drawing/2014/main" id="{71438593-7EB5-EEEB-415E-20B4B781BC34}"/>
              </a:ext>
            </a:extLst>
          </p:cNvPr>
          <p:cNvSpPr>
            <a:spLocks noChangeAspect="1"/>
          </p:cNvSpPr>
          <p:nvPr>
            <p:custDataLst>
              <p:tags r:id="rId29"/>
            </p:custDataLst>
          </p:nvPr>
        </p:nvSpPr>
        <p:spPr>
          <a:xfrm>
            <a:off x="3438725" y="5165068"/>
            <a:ext cx="365760" cy="365760"/>
          </a:xfrm>
          <a:prstGeom prst="mathPlus">
            <a:avLst>
              <a:gd name="adj1" fmla="val 1129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qual 83">
            <a:extLst>
              <a:ext uri="{FF2B5EF4-FFF2-40B4-BE49-F238E27FC236}">
                <a16:creationId xmlns:a16="http://schemas.microsoft.com/office/drawing/2014/main" id="{FE466328-5A50-D13E-6E1F-B8FB766AE234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4737146" y="2515556"/>
            <a:ext cx="365760" cy="365760"/>
          </a:xfrm>
          <a:prstGeom prst="mathEqual">
            <a:avLst>
              <a:gd name="adj1" fmla="val 4075"/>
              <a:gd name="adj2" fmla="val 1176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6" name="Equal 85">
            <a:extLst>
              <a:ext uri="{FF2B5EF4-FFF2-40B4-BE49-F238E27FC236}">
                <a16:creationId xmlns:a16="http://schemas.microsoft.com/office/drawing/2014/main" id="{2323276F-545E-5EBD-44B6-551725778C5C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4726643" y="1232820"/>
            <a:ext cx="365760" cy="365760"/>
          </a:xfrm>
          <a:prstGeom prst="mathEqual">
            <a:avLst>
              <a:gd name="adj1" fmla="val 4075"/>
              <a:gd name="adj2" fmla="val 1176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Equal 86">
            <a:extLst>
              <a:ext uri="{FF2B5EF4-FFF2-40B4-BE49-F238E27FC236}">
                <a16:creationId xmlns:a16="http://schemas.microsoft.com/office/drawing/2014/main" id="{D70C10A4-5098-C774-2969-EF56E030B068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4737146" y="5165068"/>
            <a:ext cx="365760" cy="365760"/>
          </a:xfrm>
          <a:prstGeom prst="mathEqual">
            <a:avLst>
              <a:gd name="adj1" fmla="val 4075"/>
              <a:gd name="adj2" fmla="val 1176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43DAE69-C35C-20BE-A371-7A42F82D9B50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5323898" y="976904"/>
            <a:ext cx="73152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6CA937F-BD1D-BDE0-BEBA-350D4A020508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5323898" y="2281519"/>
            <a:ext cx="73152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3FE7771-B829-B16C-56FB-74C418C41F73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5323898" y="4890749"/>
            <a:ext cx="73152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7" name="Picture 226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^1 \]&#10;&#10;\end{document}" title="IguanaTex Picture Display">
            <a:extLst>
              <a:ext uri="{FF2B5EF4-FFF2-40B4-BE49-F238E27FC236}">
                <a16:creationId xmlns:a16="http://schemas.microsoft.com/office/drawing/2014/main" id="{B2DF7214-DD48-7AE3-43AB-03387BBE319D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74"/>
          <a:stretch>
            <a:fillRect/>
          </a:stretch>
        </p:blipFill>
        <p:spPr>
          <a:xfrm>
            <a:off x="5542484" y="1205838"/>
            <a:ext cx="268547" cy="322257"/>
          </a:xfrm>
          <a:prstGeom prst="rect">
            <a:avLst/>
          </a:prstGeom>
        </p:spPr>
      </p:pic>
      <p:pic>
        <p:nvPicPr>
          <p:cNvPr id="229" name="Picture 228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^2 \]&#10;&#10;\end{document}" title="IguanaTex Picture Display">
            <a:extLst>
              <a:ext uri="{FF2B5EF4-FFF2-40B4-BE49-F238E27FC236}">
                <a16:creationId xmlns:a16="http://schemas.microsoft.com/office/drawing/2014/main" id="{1FB2DCD9-DE01-87EF-6B5C-57A7472A8B39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75"/>
          <a:stretch>
            <a:fillRect/>
          </a:stretch>
        </p:blipFill>
        <p:spPr>
          <a:xfrm>
            <a:off x="5542484" y="2504936"/>
            <a:ext cx="295401" cy="322257"/>
          </a:xfrm>
          <a:prstGeom prst="rect">
            <a:avLst/>
          </a:prstGeom>
        </p:spPr>
      </p:pic>
      <p:pic>
        <p:nvPicPr>
          <p:cNvPr id="231" name="Picture 230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^{n_t} \]&#10;&#10;\end{document}" title="IguanaTex Picture Display">
            <a:extLst>
              <a:ext uri="{FF2B5EF4-FFF2-40B4-BE49-F238E27FC236}">
                <a16:creationId xmlns:a16="http://schemas.microsoft.com/office/drawing/2014/main" id="{1CB96127-105F-AF09-EB9B-77E879CD26CF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76"/>
          <a:stretch>
            <a:fillRect/>
          </a:stretch>
        </p:blipFill>
        <p:spPr>
          <a:xfrm>
            <a:off x="5544176" y="5144150"/>
            <a:ext cx="375965" cy="295402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15C34438-56A1-4B80-6C97-6A2963335EA4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5384665" y="976904"/>
            <a:ext cx="64008" cy="914400"/>
          </a:xfrm>
          <a:prstGeom prst="rect">
            <a:avLst/>
          </a:prstGeom>
          <a:solidFill>
            <a:schemeClr val="accent3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D85C895-B536-D758-FCE5-4975368E6FFB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5394825" y="2281519"/>
            <a:ext cx="64008" cy="9144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1F2DABA-EA9D-0D97-582C-1E268EBCFD20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5394825" y="4890749"/>
            <a:ext cx="64008" cy="9144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5DBEF2D-6F45-FF30-45E9-EC07ACB13E2B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8648758" y="2820020"/>
            <a:ext cx="73152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7EC6BBE-805D-96D7-03FA-3C2DBE9E7135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8709525" y="2820020"/>
            <a:ext cx="64008" cy="914400"/>
          </a:xfrm>
          <a:prstGeom prst="rect">
            <a:avLst/>
          </a:prstGeom>
          <a:solidFill>
            <a:schemeClr val="accent3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12E72B7-6609-F4A2-F9C2-339AE84ED71C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9120957" y="2820020"/>
            <a:ext cx="73152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3C42E9E-7854-29AD-09B4-087EB1B104B9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9191884" y="2820020"/>
            <a:ext cx="64008" cy="9144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10F7229-303A-E306-D0B0-617972AB899F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10351242" y="2815538"/>
            <a:ext cx="73152" cy="914400"/>
          </a:xfrm>
          <a:prstGeom prst="rect">
            <a:avLst/>
          </a:prstGeom>
          <a:solidFill>
            <a:srgbClr val="BE6E00"/>
          </a:solidFill>
          <a:ln>
            <a:solidFill>
              <a:srgbClr val="BE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592D69B-F6E4-D383-CD4C-14E5B02D2DFD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10422169" y="2815538"/>
            <a:ext cx="64008" cy="9144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5F3F025-030F-4679-2C40-847FB6E53991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9572095" y="3214516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792A054-B71E-C9C8-BC87-4C2AE7E417CF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9797605" y="3214516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D84AFC2-4B72-A5CF-5965-C35487B1578D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10020766" y="3214516"/>
            <a:ext cx="45719" cy="145956"/>
          </a:xfrm>
          <a:prstGeom prst="rect">
            <a:avLst/>
          </a:prstGeom>
          <a:solidFill>
            <a:schemeClr val="tx1"/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14" name="Left Bracket 113">
            <a:extLst>
              <a:ext uri="{FF2B5EF4-FFF2-40B4-BE49-F238E27FC236}">
                <a16:creationId xmlns:a16="http://schemas.microsoft.com/office/drawing/2014/main" id="{51331EBA-B6AD-623A-87E2-2DBA2E5163B7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8431459" y="2647057"/>
            <a:ext cx="50800" cy="127621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Left Bracket 115">
            <a:extLst>
              <a:ext uri="{FF2B5EF4-FFF2-40B4-BE49-F238E27FC236}">
                <a16:creationId xmlns:a16="http://schemas.microsoft.com/office/drawing/2014/main" id="{3F212EA8-FFA6-380A-E28A-1EB3BDE5CFD8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 flipH="1">
            <a:off x="10654560" y="2647057"/>
            <a:ext cx="50800" cy="127621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26C3AB3-0D56-1D9A-3855-287A55C8E610}"/>
              </a:ext>
            </a:extLst>
          </p:cNvPr>
          <p:cNvCxnSpPr>
            <a:cxnSpLocks/>
          </p:cNvCxnSpPr>
          <p:nvPr>
            <p:custDataLst>
              <p:tags r:id="rId53"/>
            </p:custDataLst>
          </p:nvPr>
        </p:nvCxnSpPr>
        <p:spPr>
          <a:xfrm>
            <a:off x="6082907" y="1434103"/>
            <a:ext cx="2059306" cy="1565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A811486-0C4D-2149-AD6F-E43BF262FF3F}"/>
              </a:ext>
            </a:extLst>
          </p:cNvPr>
          <p:cNvCxnSpPr>
            <a:cxnSpLocks/>
          </p:cNvCxnSpPr>
          <p:nvPr>
            <p:custDataLst>
              <p:tags r:id="rId54"/>
            </p:custDataLst>
          </p:nvPr>
        </p:nvCxnSpPr>
        <p:spPr>
          <a:xfrm>
            <a:off x="6082907" y="2738719"/>
            <a:ext cx="2059306" cy="475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7A075C0-9DF0-FFF9-08BC-BF5298663AE8}"/>
              </a:ext>
            </a:extLst>
          </p:cNvPr>
          <p:cNvCxnSpPr>
            <a:cxnSpLocks/>
          </p:cNvCxnSpPr>
          <p:nvPr>
            <p:custDataLst>
              <p:tags r:id="rId55"/>
            </p:custDataLst>
          </p:nvPr>
        </p:nvCxnSpPr>
        <p:spPr>
          <a:xfrm flipV="1">
            <a:off x="6082907" y="3429000"/>
            <a:ext cx="2059306" cy="1918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40631A3E-E134-FB5D-EB5E-653AD565A8E2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6872449" y="3195919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DC49178-E5B5-20B0-C705-E23E3BF23CC1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7568880" y="6013989"/>
            <a:ext cx="4548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Feng, X., &amp; Zhang, Z. (2007). The rank of a random matrix. </a:t>
            </a:r>
            <a:b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mathematics and computation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185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689-694.</a:t>
            </a:r>
            <a:endParaRPr lang="en-US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9883F56-01D9-E9D5-1570-260F3D25B424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8457779" y="5000702"/>
            <a:ext cx="2608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From [1],     is full row rank</a:t>
            </a:r>
            <a:endParaRPr lang="en-US" sz="1600" dirty="0"/>
          </a:p>
        </p:txBody>
      </p:sp>
      <p:pic>
        <p:nvPicPr>
          <p:cNvPr id="233" name="Picture 232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bar{\Y} \]&#10;&#10;\end{document}" title="IguanaTex Picture Display">
            <a:extLst>
              <a:ext uri="{FF2B5EF4-FFF2-40B4-BE49-F238E27FC236}">
                <a16:creationId xmlns:a16="http://schemas.microsoft.com/office/drawing/2014/main" id="{AFEA87E5-DAF4-D31F-FAA3-51A237978063}"/>
              </a:ext>
            </a:extLst>
      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77"/>
          <a:stretch>
            <a:fillRect/>
          </a:stretch>
        </p:blipFill>
        <p:spPr>
          <a:xfrm>
            <a:off x="9434099" y="5027888"/>
            <a:ext cx="182880" cy="205740"/>
          </a:xfrm>
          <a:prstGeom prst="rect">
            <a:avLst/>
          </a:prstGeom>
        </p:spPr>
      </p:pic>
      <p:pic>
        <p:nvPicPr>
          <p:cNvPr id="235" name="Picture 234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 \]&#10;&#10;\end{document}" title="IguanaTex Picture Display">
            <a:extLst>
              <a:ext uri="{FF2B5EF4-FFF2-40B4-BE49-F238E27FC236}">
                <a16:creationId xmlns:a16="http://schemas.microsoft.com/office/drawing/2014/main" id="{32A6FEA2-D5E6-CDCD-7F2E-51185B11B338}"/>
              </a:ext>
            </a:extLst>
          </p:cNvPr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9503514" y="4031369"/>
            <a:ext cx="182880" cy="182880"/>
          </a:xfrm>
          <a:prstGeom prst="rect">
            <a:avLst/>
          </a:prstGeom>
        </p:spPr>
      </p:pic>
      <p:pic>
        <p:nvPicPr>
          <p:cNvPr id="237" name="Picture 236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bar{\Y} = \Y - \bar{\yb} \One^T \]&#10;&#10;\end{document}" title="IguanaTex Picture Display">
            <a:extLst>
              <a:ext uri="{FF2B5EF4-FFF2-40B4-BE49-F238E27FC236}">
                <a16:creationId xmlns:a16="http://schemas.microsoft.com/office/drawing/2014/main" id="{9610AF69-53C5-0C92-5BC7-9AA9613DDCC0}"/>
              </a:ext>
            </a:extLst>
      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79"/>
          <a:stretch>
            <a:fillRect/>
          </a:stretch>
        </p:blipFill>
        <p:spPr>
          <a:xfrm>
            <a:off x="9467564" y="4552462"/>
            <a:ext cx="1485900" cy="274320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100668CD-3262-388F-6224-BD38431CB961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8463341" y="4551167"/>
            <a:ext cx="1016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Compute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1491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39" grpId="0"/>
      <p:bldP spid="49" grpId="0" animBg="1"/>
      <p:bldP spid="50" grpId="0" animBg="1"/>
      <p:bldP spid="51" grpId="0" animBg="1"/>
      <p:bldP spid="60" grpId="0" animBg="1"/>
      <p:bldP spid="61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4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4" grpId="0" animBg="1"/>
      <p:bldP spid="95" grpId="0" animBg="1"/>
      <p:bldP spid="96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6" grpId="0" animBg="1"/>
      <p:bldP spid="128" grpId="0"/>
      <p:bldP spid="130" grpId="0"/>
      <p:bldP spid="131" grpId="0"/>
      <p:bldP spid="1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48BCE-E2BE-DE4F-DA15-DE795939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comparison_all_approaches.tex}}&#10;&#10;\end{document}" title="IguanaTex Picture Display">
            <a:extLst>
              <a:ext uri="{FF2B5EF4-FFF2-40B4-BE49-F238E27FC236}">
                <a16:creationId xmlns:a16="http://schemas.microsoft.com/office/drawing/2014/main" id="{AEB190BE-87FA-ACD3-BAFE-C501F2DB8D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539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7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0728-D524-126C-2C96-1F69D452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results_overal.tex}}&#10;&#10;\end{document}" title="IguanaTex Picture Display">
            <a:extLst>
              <a:ext uri="{FF2B5EF4-FFF2-40B4-BE49-F238E27FC236}">
                <a16:creationId xmlns:a16="http://schemas.microsoft.com/office/drawing/2014/main" id="{0E3F7F61-7EBD-F59C-60F2-D66677EF07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426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51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1D85-180C-37EB-EA68-EF3749DA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heat_1.tex}}&#10;&#10;\end{document}" title="IguanaTex Picture Display">
            <a:extLst>
              <a:ext uri="{FF2B5EF4-FFF2-40B4-BE49-F238E27FC236}">
                <a16:creationId xmlns:a16="http://schemas.microsoft.com/office/drawing/2014/main" id="{B55938AD-6AE3-4453-7E45-C5E86988D3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56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36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F2B8-4B34-F18B-7A17-9D9D7695D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heat_2.tex}}&#10;&#10;\end{document}" title="IguanaTex Picture Display">
            <a:extLst>
              <a:ext uri="{FF2B5EF4-FFF2-40B4-BE49-F238E27FC236}">
                <a16:creationId xmlns:a16="http://schemas.microsoft.com/office/drawing/2014/main" id="{EBEF4C71-A6C7-090D-E896-C81F001E549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5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00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4A04-7FE0-4F99-3CF0-FE50D15E2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heat_3.tex}}&#10;&#10;\end{document}" title="IguanaTex Picture Display">
            <a:extLst>
              <a:ext uri="{FF2B5EF4-FFF2-40B4-BE49-F238E27FC236}">
                <a16:creationId xmlns:a16="http://schemas.microsoft.com/office/drawing/2014/main" id="{D5EF7497-1E1B-0A7A-DEEA-83C5D3AAAD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5651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983E1A9-7140-1614-930B-845DF77ADE2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876764" y="832207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"/>
              </a:rPr>
              <a:t>Inverse solutions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82CC1B-E05D-D824-FF43-D530DF3A647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33370" y="832207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"/>
              </a:rPr>
              <a:t>Forward solutions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EC223B-2797-6F83-6299-283810F64DD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7243280" y="832207"/>
            <a:ext cx="0" cy="5630238"/>
          </a:xfrm>
          <a:prstGeom prst="line">
            <a:avLst/>
          </a:prstGeom>
          <a:ln w="38100">
            <a:solidFill>
              <a:srgbClr val="C553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89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E65B-665F-40E7-55B0-CA6AFB45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heat_4.tex}}&#10;&#10;\end{document}" title="IguanaTex Picture Display">
            <a:extLst>
              <a:ext uri="{FF2B5EF4-FFF2-40B4-BE49-F238E27FC236}">
                <a16:creationId xmlns:a16="http://schemas.microsoft.com/office/drawing/2014/main" id="{07E1EDBF-8164-D0D1-0033-EAF222E2FF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4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83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F297-7F65-A642-353D-00A8AEE99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NS_1.tex}}&#10;&#10;\end{document}" title="IguanaTex Picture Display">
            <a:extLst>
              <a:ext uri="{FF2B5EF4-FFF2-40B4-BE49-F238E27FC236}">
                <a16:creationId xmlns:a16="http://schemas.microsoft.com/office/drawing/2014/main" id="{14B147ED-EA9B-1CE1-B13F-776F74A264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39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67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96D85-4BE8-16CE-950E-B10E1AD1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NS_2.tex}}&#10;&#10;\end{document}" title="IguanaTex Picture Display">
            <a:extLst>
              <a:ext uri="{FF2B5EF4-FFF2-40B4-BE49-F238E27FC236}">
                <a16:creationId xmlns:a16="http://schemas.microsoft.com/office/drawing/2014/main" id="{0976CB51-C895-DD2A-2349-C4526A11C9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5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854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063E8-9BA5-F9FD-F497-5253614D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NS_3.tex}}&#10;&#10;\end{document}" title="IguanaTex Picture Display">
            <a:extLst>
              <a:ext uri="{FF2B5EF4-FFF2-40B4-BE49-F238E27FC236}">
                <a16:creationId xmlns:a16="http://schemas.microsoft.com/office/drawing/2014/main" id="{7B1963D1-D2AB-697D-EF37-D2A5382514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5651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CAED99-3F1D-9159-BA8A-E588C66052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876764" y="832207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"/>
              </a:rPr>
              <a:t>Inverse solutions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45FD4-95F3-9F7D-0644-EB931C80926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33370" y="832207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"/>
              </a:rPr>
              <a:t>Forward solutions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01E2C9-2F3D-A091-3F41-0BD1B891963A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7263828" y="832207"/>
            <a:ext cx="0" cy="5630238"/>
          </a:xfrm>
          <a:prstGeom prst="line">
            <a:avLst/>
          </a:prstGeom>
          <a:ln w="38100">
            <a:solidFill>
              <a:srgbClr val="C553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461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C78B9-C5A5-0DCA-94B1-6E5F10DF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NS_4.tex}}&#10;&#10;\end{document}" title="IguanaTex Picture Display">
            <a:extLst>
              <a:ext uri="{FF2B5EF4-FFF2-40B4-BE49-F238E27FC236}">
                <a16:creationId xmlns:a16="http://schemas.microsoft.com/office/drawing/2014/main" id="{92D5FD01-C5CE-925D-9B5F-67D77208A0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4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98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162C-DB59-ACBB-02A9-F4084539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computational_cost.tex}}&#10;&#10;\end{document}" title="IguanaTex Picture Display">
            <a:extLst>
              <a:ext uri="{FF2B5EF4-FFF2-40B4-BE49-F238E27FC236}">
                <a16:creationId xmlns:a16="http://schemas.microsoft.com/office/drawing/2014/main" id="{56C839CF-D86B-E1EC-526D-F469C14E60E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58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88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F1C6-F1EA-D020-6763-67CCBE5F0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conclusion.tex}}&#10;&#10;\end{document}" title="IguanaTex Picture Display">
            <a:extLst>
              <a:ext uri="{FF2B5EF4-FFF2-40B4-BE49-F238E27FC236}">
                <a16:creationId xmlns:a16="http://schemas.microsoft.com/office/drawing/2014/main" id="{C2A72157-29B5-9B86-1A08-1C39F846EA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55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59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3804-4DF5-423B-23D4-CCF85E9C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045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70DB3-7A72-53D9-2808-1558C339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inverse_and_forward_problems.tex}}&#10;&#10;\end{document}" title="IguanaTex Picture Display">
            <a:extLst>
              <a:ext uri="{FF2B5EF4-FFF2-40B4-BE49-F238E27FC236}">
                <a16:creationId xmlns:a16="http://schemas.microsoft.com/office/drawing/2014/main" id="{5A14AA1C-476C-FDEB-F138-BCC46A050EB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4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112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22"/>
  <p:tag name="ORIGINALWIDTH" val="44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title.tex}}&#10;&#10;\end{document}"/>
  <p:tag name="IGUANATEXSIZE" val="12"/>
  <p:tag name="IGUANATEXCURSOR" val="673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8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challenges.tex}}&#10;&#10;\end{document}"/>
  <p:tag name="IGUANATEXSIZE" val="12"/>
  <p:tag name="IGUANATEXCURSOR" val="67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8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surrogates.tex}}&#10;&#10;\end{document}"/>
  <p:tag name="IGUANATEXSIZE" val="12"/>
  <p:tag name="IGUANATEXCURSOR" val="67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06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linear_settings.tex}}&#10;&#10;\end{document}"/>
  <p:tag name="IGUANATEXSIZE" val="12"/>
  <p:tag name="IGUANATEXCURSOR" val="687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7"/>
  <p:tag name="ORIGINALWIDTH" val="6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/>
  <p:tag name="IGUANATEXSIZE" val="12"/>
  <p:tag name="IGUANATEXCURSOR" val="64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5"/>
  <p:tag name="ORIGINALWIDTH" val="7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ub \]&#10;&#10;\end{document}"/>
  <p:tag name="IGUANATEXSIZE" val="12"/>
  <p:tag name="IGUANATEXCURSOR" val="643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8"/>
  <p:tag name="ORIGINALWIDTH" val="30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text{ or } \omb \]&#10;&#10;\end{document}"/>
  <p:tag name="IGUANATEXSIZE" val="12"/>
  <p:tag name="IGUANATEXCURSOR" val="655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160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all_AE.tex}}&#10;&#10;\end{document}"/>
  <p:tag name="IGUANATEXSIZE" val="12"/>
  <p:tag name="IGUANATEXCURSOR" val="67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15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aive_AE}}&#10;&#10;\end{document}"/>
  <p:tag name="IGUANATEXSIZE" val="12"/>
  <p:tag name="IGUANATEXCURSOR" val="676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43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scheme_phase_1.tex}}&#10;&#10;\end{document}"/>
  <p:tag name="IGUANATEXSIZE" val="12"/>
  <p:tag name="IGUANATEXCURSOR" val="68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43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scheme_phase_1_cont.tex}}&#10;&#10;\end{document}"/>
  <p:tag name="IGUANATEXSIZE" val="12"/>
  <p:tag name="IGUANATEXCURSOR" val="693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40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scheme_phase_2.tex}}&#10;&#10;\end{document}"/>
  <p:tag name="IGUANATEXSIZE" val="12"/>
  <p:tag name="IGUANATEXCURSOR" val="68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40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scheme_phase_2_cont.tex}}&#10;&#10;\end{document}"/>
  <p:tag name="IGUANATEXSIZE" val="12"/>
  <p:tag name="IGUANATEXCURSOR" val="693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42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.tex}}&#10;&#10;\end{document}"/>
  <p:tag name="IGUANATEXSIZE" val="12"/>
  <p:tag name="IGUANATEXCURSOR" val="673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22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cont.tex}}&#10;&#10;\end{document}"/>
  <p:tag name="IGUANATEXSIZE" val="12"/>
  <p:tag name="IGUANATEXCURSOR" val="682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45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TAEN}}&#10;&#10;\end{document}"/>
  <p:tag name="IGUANATEXSIZE" val="12"/>
  <p:tag name="IGUANATEXCURSOR" val="672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8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mc_AE_Y_full_row_rank.tex}}&#10;&#10;\end{document}"/>
  <p:tag name="IGUANATEXSIZE" val="12"/>
  <p:tag name="IGUANATEXCURSOR" val="689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7"/>
  <p:tag name="ORIGINALWIDTH" val="6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/>
  <p:tag name="IGUANATEXSIZE" val="12"/>
  <p:tag name="IGUANATEXCURSOR" val="64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54"/>
  <p:tag name="ORIGINALWIDTH" val="267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\def\layersep{1.7cm}&#10;\def\nodeinlayersep{1.cm}&#10;% Define UT orange using RGB values&#10;\definecolor{utorange}{RGB}{255,130,0}&#10;&#10;\begin{figure}[htb!]&#10;        \centering&#10;\resizebox{0.65\textwidth}{!}{&#10;        \begin{tikzpicture}[&#10;            node distance=\layersep,&#10;            edge/.style={-stealth,shorten &gt;=1pt, draw=black!50,thin},&#10;            neuron/.style={circle,fill=black!25,minimum size=10pt,inner sep=0pt},&#10;            operator/.style={rectangle,fill=green!,minimum height= \nodeinlayersep, minimum width= 0.8 * \layersep, inner sep=0pt, rounded corners},&#10;            input noise/.style={neuron, draw = black, fill=gray!50,minimum size=16},&#10;            input neuron/.style={neuron, draw = black, fill=green!10,minimum size=16},&#10;            output neuron/.style={neuron, draw = black, fill=utorange!50,minimum size=16pt},&#10;            hidden neuron/.style={neuron, draw = black, fill=utorange!10, minimum size=16pt},&#10;            Forward map/.style={operator, draw = black, fill=utorange!100},&#10;            annot/.style={text width=4em, text centered},&#10;            every node/.style={scale=1.0},&#10;            node1/.style={scale=2.0}&#10;        ]&#10;        % Randomize machine engine&#10;        \node[rectangle,fill=gray!40,minimum height= \nodeinlayersep, minimum width= 1.6 * \layersep, rounded corners] (random_noise_engine) at (1.4*\layersep, -10.*\nodeinlayersep) {\begin{tabular}{c} $ \epsb^i \sim \mc{N} \LRp{\mathbf{0}, \epsilon^2 \LRs{\boldsymbol{\diag}\LRp{{\yb}}}^2}$ \end{tabular}};&#10;&#10;&#10;    \end{tikzpicture}&#10;}&#10;\end{figure}&#10;&#10;\end{document}"/>
  <p:tag name="IGUANATEXSIZE" val="12"/>
  <p:tag name="IGUANATEXCURSOR" val="1996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7"/>
  <p:tag name="ORIGINALWIDTH" val="6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/>
  <p:tag name="IGUANATEXSIZE" val="12"/>
  <p:tag name="IGUANATEXCURSOR" val="64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7"/>
  <p:tag name="ORIGINALWIDTH" val="6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/>
  <p:tag name="IGUANATEXSIZE" val="12"/>
  <p:tag name="IGUANATEXCURSOR" val="64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7"/>
  <p:tag name="ORIGINALWIDTH" val="6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 \]&#10;&#10;\end{document}"/>
  <p:tag name="IGUANATEXSIZE" val="12"/>
  <p:tag name="IGUANATEXCURSOR" val="64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10"/>
  <p:tag name="ORIGINALWIDTH" val="9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epsb^1 \]&#10;&#10;\end{document}"/>
  <p:tag name="IGUANATEXSIZE" val="12"/>
  <p:tag name="IGUANATEXCURSOR" val="64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10"/>
  <p:tag name="ORIGINALWIDTH" val="9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epsb^2 \]&#10;&#10;\end{document}"/>
  <p:tag name="IGUANATEXSIZE" val="12"/>
  <p:tag name="IGUANATEXCURSOR" val="64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8"/>
  <p:tag name="ORIGINALWIDTH" val="13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epsb^{n_t} \]&#10;&#10;\end{document}"/>
  <p:tag name="IGUANATEXSIZE" val="12"/>
  <p:tag name="IGUANATEXCURSOR" val="652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12"/>
  <p:tag name="ORIGINALWIDTH" val="10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^1 \]&#10;&#10;\end{document}"/>
  <p:tag name="IGUANATEXSIZE" val="12"/>
  <p:tag name="IGUANATEXCURSOR" val="646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12"/>
  <p:tag name="ORIGINALWIDTH" val="11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^2 \]&#10;&#10;\end{document}"/>
  <p:tag name="IGUANATEXSIZE" val="12"/>
  <p:tag name="IGUANATEXCURSOR" val="646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11"/>
  <p:tag name="ORIGINALWIDTH" val="1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b^{n_t} \]&#10;&#10;\end{document}"/>
  <p:tag name="IGUANATEXSIZE" val="12"/>
  <p:tag name="IGUANATEXCURSOR" val="64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9"/>
  <p:tag name="ORIGINALWIDTH" val="8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bar{\Y} \]&#10;&#10;\end{document}"/>
  <p:tag name="IGUANATEXSIZE" val="18"/>
  <p:tag name="IGUANATEXCURSOR" val="645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8"/>
  <p:tag name="ORIGINALWIDTH" val="8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Y \]&#10;&#10;\end{document}"/>
  <p:tag name="IGUANATEXSIZE" val="18"/>
  <p:tag name="IGUANATEXCURSOR" val="643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12"/>
  <p:tag name="ORIGINALWIDTH" val="65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[ \bar{\Y} = \Y - \bar{\yb} \One^T \]&#10;&#10;\end{document}"/>
  <p:tag name="IGUANATEXSIZE" val="18"/>
  <p:tag name="IGUANATEXCURSOR" val="673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01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comparison_all_approaches.tex}}&#10;&#10;\end{document}"/>
  <p:tag name="IGUANATEXSIZE" val="12"/>
  <p:tag name="IGUANATEXCURSOR" val="693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159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results_overal.tex}}&#10;&#10;\end{document}"/>
  <p:tag name="IGUANATEXSIZE" val="12"/>
  <p:tag name="IGUANATEXCURSOR" val="696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55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heat_1.tex}}&#10;&#10;\end{document}"/>
  <p:tag name="IGUANATEXSIZE" val="12"/>
  <p:tag name="IGUANATEXCURSOR" val="63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33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heat_2.tex}}&#10;&#10;\end{document}"/>
  <p:tag name="IGUANATEXSIZE" val="12"/>
  <p:tag name="IGUANATEXCURSOR" val="68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53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heat_3.tex}}&#10;&#10;\end{document}"/>
  <p:tag name="IGUANATEXSIZE" val="12"/>
  <p:tag name="IGUANATEXCURSOR" val="68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14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heat_4.tex}}&#10;&#10;\end{document}"/>
  <p:tag name="IGUANATEXSIZE" val="12"/>
  <p:tag name="IGUANATEXCURSOR" val="684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38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NS_1.tex}}&#10;&#10;\end{document}"/>
  <p:tag name="IGUANATEXSIZE" val="12"/>
  <p:tag name="IGUANATEXCURSOR" val="63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33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NS_2.tex}}&#10;&#10;\end{document}"/>
  <p:tag name="IGUANATEXSIZE" val="12"/>
  <p:tag name="IGUANATEXCURSOR" val="682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51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NS_3.tex}}&#10;&#10;\end{document}"/>
  <p:tag name="IGUANATEXSIZE" val="12"/>
  <p:tag name="IGUANATEXCURSOR" val="682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14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NS_4.tex}}&#10;&#10;\end{document}"/>
  <p:tag name="IGUANATEXSIZE" val="12"/>
  <p:tag name="IGUANATEXCURSOR" val="682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19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numerical_computational_cost.tex}}&#10;&#10;\end{document}"/>
  <p:tag name="IGUANATEXSIZE" val="12"/>
  <p:tag name="IGUANATEXCURSOR" val="696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44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conclusion.tex}}&#10;&#10;\end{document}"/>
  <p:tag name="IGUANATEXSIZE" val="12"/>
  <p:tag name="IGUANATEXCURSOR" val="678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000"/>
  <p:tag name="ORIGINALHEIGHT" val="240"/>
  <p:tag name="ORIGINALWIDTH" val="454"/>
  <p:tag name="OUTPUTTYPE" val="PDF"/>
  <p:tag name="IGUANATEXVERSION" val="162"/>
  <p:tag name="LATEXADDIN" val="\documentclass[mathserif, aspectratio=169]{beamer}&#10;&#10;\pagestyle{empty}&#10;&#10;% Set up root path as macro&#10;\makeatletter&#10;\def\@rootpath{/Users/hainguyenvan/Desktop/presentations/2025_SIAM_CSE_Presentation/Latex/}&#10;\newcommand{\fromroot}[1]{\@rootpath#1}&#10;\def\input@path{{\@rootpath}}&#10;&#10;% Define graphics path using the root path macro&#10;\usepackage{graphicx}&#10;\makeatletter&#10;\newcommand{\setgraphicspath}{%&#10;    \graphicspath{{\@rootpath}}%&#10;}&#10;\makeatother&#10;&#10;% Call the macro to set graphics path&#10;\setgraphicspath&#10;&#10;% Input template using fromroot command&#10;\input{\fromroot{template/template_1.tex}}&#10;&#10;\begin{document}&#10;&#10;% Input slides using fromroot command&#10;\input{\fromroot{slides/slide_inverse_and_forward_problems.tex}}&#10;&#10;\end{document}"/>
  <p:tag name="IGUANATEXSIZE" val="12"/>
  <p:tag name="IGUANATEXCURSOR" val="696"/>
  <p:tag name="TRANSPARENCY" val="True"/>
  <p:tag name="COLORHEX" val="000000"/>
  <p:tag name="LATEXENGINEID" val="1"/>
  <p:tag name="TEMPFOLDER" val="/Users/hainguyenvan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5652</TotalTime>
  <Words>337</Words>
  <Application>Microsoft Macintosh PowerPoint</Application>
  <PresentationFormat>Widescreen</PresentationFormat>
  <Paragraphs>117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Hai Nguyen</dc:creator>
  <cp:lastModifiedBy>Van Hai Nguyen</cp:lastModifiedBy>
  <cp:revision>454</cp:revision>
  <dcterms:created xsi:type="dcterms:W3CDTF">2025-02-15T05:16:58Z</dcterms:created>
  <dcterms:modified xsi:type="dcterms:W3CDTF">2025-03-19T18:26:13Z</dcterms:modified>
</cp:coreProperties>
</file>